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14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4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8.png"/><Relationship Id="rId8" Type="http://schemas.openxmlformats.org/officeDocument/2006/relationships/image" Target="../media/image17.png"/><Relationship Id="rId9" Type="http://schemas.openxmlformats.org/officeDocument/2006/relationships/image" Target="../media/image3.png"/><Relationship Id="rId10" Type="http://schemas.openxmlformats.org/officeDocument/2006/relationships/image" Target="../media/image18.png"/><Relationship Id="rId11" Type="http://schemas.openxmlformats.org/officeDocument/2006/relationships/image" Target="../media/image26.png"/><Relationship Id="rId12" Type="http://schemas.openxmlformats.org/officeDocument/2006/relationships/image" Target="../media/image20.png"/><Relationship Id="rId13" Type="http://schemas.openxmlformats.org/officeDocument/2006/relationships/image" Target="../media/image29.png"/><Relationship Id="rId1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0.png"/><Relationship Id="rId8" Type="http://schemas.openxmlformats.org/officeDocument/2006/relationships/image" Target="../media/image33.png"/><Relationship Id="rId9" Type="http://schemas.openxmlformats.org/officeDocument/2006/relationships/image" Target="../media/image16.png"/><Relationship Id="rId10" Type="http://schemas.openxmlformats.org/officeDocument/2006/relationships/image" Target="../media/image28.png"/><Relationship Id="rId11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21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47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donors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pic>
        <p:nvPicPr>
          <p:cNvPr id="3" name="Image 1" descr="/home/claude/ngoconnect/icons/volunteers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064240" y="457200"/>
            <a:ext cx="502920" cy="502920"/>
          </a:xfrm>
          <a:prstGeom prst="rect">
            <a:avLst/>
          </a:prstGeom>
        </p:spPr>
      </p:pic>
      <p:pic>
        <p:nvPicPr>
          <p:cNvPr id="4" name="Image 2" descr="/home/claude/ngoconnect/icons/verified_ngo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502920" y="5669280"/>
            <a:ext cx="457200" cy="457200"/>
          </a:xfrm>
          <a:prstGeom prst="rect">
            <a:avLst/>
          </a:prstGeom>
        </p:spPr>
      </p:pic>
      <p:pic>
        <p:nvPicPr>
          <p:cNvPr id="5" name="Image 3" descr="/home/claude/ngoconnect/icons/events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11155680" y="5394960"/>
            <a:ext cx="457200" cy="457200"/>
          </a:xfrm>
          <a:prstGeom prst="rect">
            <a:avLst/>
          </a:prstGeom>
        </p:spPr>
      </p:pic>
      <p:pic>
        <p:nvPicPr>
          <p:cNvPr id="6" name="Image 4" descr="/home/claude/ngoconnect/icons/plus_deco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6035040" y="320040"/>
            <a:ext cx="256032" cy="256032"/>
          </a:xfrm>
          <a:prstGeom prst="rect">
            <a:avLst/>
          </a:prstGeom>
        </p:spPr>
      </p:pic>
      <p:pic>
        <p:nvPicPr>
          <p:cNvPr id="7" name="Image 5" descr="/home/claude/ngoconnect/icons/plus_deco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463040" y="5120640"/>
            <a:ext cx="237744" cy="237744"/>
          </a:xfrm>
          <a:prstGeom prst="rect">
            <a:avLst/>
          </a:prstGeom>
        </p:spPr>
      </p:pic>
      <p:pic>
        <p:nvPicPr>
          <p:cNvPr id="8" name="Image 6" descr="/home/claude/ngoconnect/icons/plus_deco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0424160" y="1280160"/>
            <a:ext cx="237744" cy="237744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  <p:txBody>
          <a:bodyPr/>
          <a:p/>
        </p:txBody>
      </p:sp>
      <p:pic>
        <p:nvPicPr>
          <p:cNvPr id="10" name="Image 7" descr="/home/claude/ngoconnect/icons/conclusion_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4446" y="1678838"/>
            <a:ext cx="482803" cy="482803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31520" y="2697480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100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NGOCONNECT</a:t>
            </a:r>
            <a:endParaRPr lang="en-US" sz="5400" dirty="0"/>
          </a:p>
        </p:txBody>
      </p:sp>
      <p:sp>
        <p:nvSpPr>
          <p:cNvPr id="12" name="Text 2"/>
          <p:cNvSpPr/>
          <p:nvPr/>
        </p:nvSpPr>
        <p:spPr>
          <a:xfrm>
            <a:off x="1188720" y="3611880"/>
            <a:ext cx="9814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Connecting Verified NGOs, Donors and Volunteers</a:t>
            </a:r>
            <a:endParaRPr lang="en-US" sz="1800" dirty="0"/>
          </a:p>
        </p:txBody>
      </p:sp>
      <p:sp>
        <p:nvSpPr>
          <p:cNvPr id="13" name="Shape 3"/>
          <p:cNvSpPr/>
          <p:nvPr/>
        </p:nvSpPr>
        <p:spPr>
          <a:xfrm>
            <a:off x="5090008" y="4315968"/>
            <a:ext cx="2011680" cy="0"/>
          </a:xfrm>
          <a:prstGeom prst="line">
            <a:avLst/>
          </a:prstGeom>
          <a:noFill/>
          <a:ln w="19050">
            <a:solidFill>
              <a:srgbClr val="E88AA0"/>
            </a:solidFill>
            <a:prstDash val="solid"/>
          </a:ln>
        </p:spPr>
        <p:txBody>
          <a:bodyPr/>
          <a:p/>
        </p:txBody>
      </p:sp>
      <p:sp>
        <p:nvSpPr>
          <p:cNvPr id="14" name="Text 4"/>
          <p:cNvSpPr/>
          <p:nvPr/>
        </p:nvSpPr>
        <p:spPr>
          <a:xfrm>
            <a:off x="1188720" y="4526280"/>
            <a:ext cx="98142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Sardar Vallabhbhai Global University
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Applications
</a:t>
            </a:r>
            <a:r>
              <a:rPr lang="en-US" sz="14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III  |  Academic Year 2026–27</a:t>
            </a:r>
            <a:endParaRPr lang="en-US" sz="1400" dirty="0"/>
          </a:p>
        </p:txBody>
      </p:sp>
      <p:sp>
        <p:nvSpPr>
          <p:cNvPr id="15" name="Text 5"/>
          <p:cNvSpPr/>
          <p:nvPr/>
        </p:nvSpPr>
        <p:spPr>
          <a:xfrm>
            <a:off x="1188720" y="5623560"/>
            <a:ext cx="98142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– [Enrolment Number], [Student Name] – [Enrolment Number]
</a:t>
            </a:r>
            <a:r>
              <a:rPr lang="en-US" sz="12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Dr./Prof. [Faculty Guide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NGOConnect?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where government-registered NGOs are verified before becoming publicly visible, donors can give with confidence, and volunteers can discover ways to contribute their time.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440180" y="2743200"/>
            <a:ext cx="822960" cy="82296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9" name="Image 2" descr="/home/claude/ngoconnect/icons/verified_n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150" y="2957170"/>
            <a:ext cx="395021" cy="3950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NGOs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31520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are checked and approved before donors ever see them.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410712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302252" y="2743200"/>
            <a:ext cx="822960" cy="822960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4" name="Image 3" descr="/home/claude/ngoconnect/icons/don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222" y="2957170"/>
            <a:ext cx="395021" cy="39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47872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3593592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confidently via gateway or in-platform wallet, with automatic 80G receipts.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272784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164324" y="2743200"/>
            <a:ext cx="822960" cy="822960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9" name="Image 4" descr="/home/claude/ngoconnect/icons/volunte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294" y="2957170"/>
            <a:ext cx="395021" cy="3950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9944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6455664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events and enrol to contribute time alongside money.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134856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0026396" y="2743200"/>
            <a:ext cx="822960" cy="82296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4" name="Image 5" descr="/home/claude/ngoconnect/icons/tru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0366" y="2957170"/>
            <a:ext cx="395021" cy="39502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272016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Convenience &amp; Transparency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9317736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traceable ledgers and simplified giving in one system.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 of the Existing System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3232" y="1764792"/>
            <a:ext cx="566928" cy="566928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8" name="Image 2" descr="/home/claude/ngoconnect/icons/no_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1912193"/>
            <a:ext cx="272125" cy="2721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17190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of legitimacy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731520" y="24414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cannot confirm an NGO holds valid registration, PAN or Darpan identity.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34340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07992" y="1764792"/>
            <a:ext cx="566928" cy="566928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3" name="Image 3" descr="/home/claude/ngoconnect/icons/discov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393" y="1912193"/>
            <a:ext cx="272125" cy="2721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17190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NGO discovery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26280" y="24414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searchable catalogue of verified organisations by city or cause.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13816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302752" y="1764792"/>
            <a:ext cx="566928" cy="566928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8" name="Image 4" descr="/home/claude/ngoconnect/icons/trace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153" y="1912193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06840" y="17190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8321040" y="24414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funds leave a donor’s account, nothing records the payment against a purpose.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4864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13232" y="3867912"/>
            <a:ext cx="566928" cy="566928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3" name="Image 5" descr="/home/claude/ngoconnect/icons/receipt_man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" y="4015313"/>
            <a:ext cx="272125" cy="2721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38221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absent tax receipts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731520" y="454456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must be requested by hand; many donors never receive one.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34340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507992" y="3867912"/>
            <a:ext cx="566928" cy="566928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8" name="Image 6" descr="/home/claude/ngoconnect/icons/legitimac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5393" y="4015313"/>
            <a:ext cx="272125" cy="2721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12080" y="38221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friction on every donation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4526280" y="454456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UPI details re-entered each time, suppressing repeat giving.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13816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302752" y="3867912"/>
            <a:ext cx="566928" cy="566928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3" name="Image 7" descr="/home/claude/ngoconnect/icons/disconne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0153" y="4015313"/>
            <a:ext cx="272125" cy="2721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06840" y="38221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Volunteering disconnected from giving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8321040" y="454456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channel for NGOs to publish goods or volunteer needs.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NGOConnect Solves It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organisation is verified and approved before it becomes visible; every donation is traceable and receipted automatically.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65860" y="2496312"/>
            <a:ext cx="731520" cy="73152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9" name="Image 2" descr="/home/claude/ngoconnect/icons/regi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055" y="2686507"/>
            <a:ext cx="351130" cy="3511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79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Registration</a:t>
            </a:r>
            <a:endParaRPr lang="en-US" sz="1150" dirty="0"/>
          </a:p>
        </p:txBody>
      </p:sp>
      <p:pic>
        <p:nvPicPr>
          <p:cNvPr id="11" name="Image 3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2601" y="2962656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82321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3440430" y="2496312"/>
            <a:ext cx="731520" cy="73152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4" name="Image 4" descr="/home/claude/ngoconnect/icons/verification_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625" y="2686507"/>
            <a:ext cx="351130" cy="3511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89636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150" dirty="0"/>
          </a:p>
        </p:txBody>
      </p:sp>
      <p:pic>
        <p:nvPicPr>
          <p:cNvPr id="16" name="Image 5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171" y="2962656"/>
            <a:ext cx="292608" cy="29260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09778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5715000" y="2496312"/>
            <a:ext cx="731520" cy="73152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9" name="Image 6" descr="/home/claude/ngoconnect/icons/approv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195" y="2686507"/>
            <a:ext cx="351130" cy="35113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7093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150" dirty="0"/>
          </a:p>
        </p:txBody>
      </p:sp>
      <p:pic>
        <p:nvPicPr>
          <p:cNvPr id="21" name="Image 7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741" y="2962656"/>
            <a:ext cx="292608" cy="292608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737235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7989570" y="2496312"/>
            <a:ext cx="731520" cy="73152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4" name="Image 8" descr="/home/claude/ngoconnect/icons/lis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9765" y="2686507"/>
            <a:ext cx="351130" cy="35113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44550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NGO Listing</a:t>
            </a:r>
            <a:endParaRPr lang="en-US" sz="1150" dirty="0"/>
          </a:p>
        </p:txBody>
      </p:sp>
      <p:pic>
        <p:nvPicPr>
          <p:cNvPr id="26" name="Image 9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6311" y="2962656"/>
            <a:ext cx="292608" cy="292608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964692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28" name="Shape 16"/>
          <p:cNvSpPr/>
          <p:nvPr/>
        </p:nvSpPr>
        <p:spPr>
          <a:xfrm>
            <a:off x="10264140" y="2496312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9" name="Image 10" descr="/home/claude/ngoconnect/icons/engage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4335" y="2686507"/>
            <a:ext cx="351130" cy="35113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72007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/ Volunteer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31" name="Text 18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decision is made once by an administrator with the documents in front of them — not repeatedly by every individual donor.</a:t>
            </a:r>
            <a:endParaRPr lang="en-US" sz="1200" dirty="0"/>
          </a:p>
        </p:txBody>
      </p:sp>
      <p:sp>
        <p:nvSpPr>
          <p:cNvPr id="32" name="Shape 19"/>
          <p:cNvSpPr/>
          <p:nvPr/>
        </p:nvSpPr>
        <p:spPr>
          <a:xfrm>
            <a:off x="822960" y="5257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3" name="Image 11" descr="/home/claude/ngoconnect/icons/pay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5532120"/>
            <a:ext cx="457200" cy="4572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1600200" y="5257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or Wallet donations</a:t>
            </a:r>
            <a:endParaRPr lang="en-US" sz="1200" dirty="0"/>
          </a:p>
        </p:txBody>
      </p:sp>
      <p:sp>
        <p:nvSpPr>
          <p:cNvPr id="35" name="Shape 21"/>
          <p:cNvSpPr/>
          <p:nvPr/>
        </p:nvSpPr>
        <p:spPr>
          <a:xfrm>
            <a:off x="4617720" y="5257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6" name="Image 12" descr="/home/claude/ngoconnect/icons/append_ledg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5532120"/>
            <a:ext cx="457200" cy="45720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394960" y="5257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financial ledger</a:t>
            </a:r>
            <a:endParaRPr lang="en-US" sz="1200" dirty="0"/>
          </a:p>
        </p:txBody>
      </p:sp>
      <p:sp>
        <p:nvSpPr>
          <p:cNvPr id="38" name="Shape 23"/>
          <p:cNvSpPr/>
          <p:nvPr/>
        </p:nvSpPr>
        <p:spPr>
          <a:xfrm>
            <a:off x="8412480" y="5257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9" name="Image 13" descr="/home/claude/ngoconnect/icons/receipt_au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5532120"/>
            <a:ext cx="457200" cy="4572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9189720" y="5257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80G tax receipt</a:t>
            </a:r>
            <a:endParaRPr lang="en-US" sz="1200" dirty="0"/>
          </a:p>
        </p:txBody>
      </p:sp>
      <p:sp>
        <p:nvSpPr>
          <p:cNvPr id="4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Key Features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3232" y="1943100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8" name="Image 2" descr="/home/claude/ngoconnect/icons/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109521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NGO onboarding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34340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07992" y="1943100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2" name="Image 3" descr="/home/claude/ngoconnect/icons/verification_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2109521"/>
            <a:ext cx="307238" cy="3072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352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813816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02752" y="1943100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6" name="Image 4" descr="/home/claude/ngoconnect/icons/pay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210952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828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donation processing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713232" y="356158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0" name="Image 5" descr="/home/claude/ngoconnect/icons/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3" y="3728009"/>
            <a:ext cx="307238" cy="3072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0876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34340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07992" y="356158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4" name="Image 6" descr="/home/claude/ngoconnect/icons/receipt_au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3728009"/>
            <a:ext cx="307238" cy="3072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0352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80G receipt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813816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8302752" y="356158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8" name="Image 7" descr="/home/claude/ngoconnect/icons/ledg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173" y="3728009"/>
            <a:ext cx="307238" cy="30723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09828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finance &amp; ledger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54864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13232" y="5180076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2" name="Image 8" descr="/home/claude/ngoconnect/icons/ev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53" y="5346497"/>
            <a:ext cx="307238" cy="30723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50876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events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434340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507992" y="5180076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6" name="Image 9" descr="/home/claude/ngoconnect/icons/c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4413" y="5346497"/>
            <a:ext cx="307238" cy="30723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0352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donor–NGO communication</a:t>
            </a:r>
            <a:endParaRPr lang="en-US" sz="1300" dirty="0"/>
          </a:p>
        </p:txBody>
      </p:sp>
      <p:sp>
        <p:nvSpPr>
          <p:cNvPr id="38" name="Shape 26"/>
          <p:cNvSpPr/>
          <p:nvPr/>
        </p:nvSpPr>
        <p:spPr>
          <a:xfrm>
            <a:off x="813816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302752" y="5180076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40" name="Image 10" descr="/home/claude/ngoconnect/icons/adm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9173" y="5346497"/>
            <a:ext cx="307238" cy="30723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09828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management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USERS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Functional Modules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67612" y="1856232"/>
            <a:ext cx="768096" cy="768096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8" name="Image 2" descr="/home/claude/ngoconnect/icons/donor_r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317" y="2055937"/>
            <a:ext cx="368686" cy="3686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04672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NGOs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via gateway or wallet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80G receipts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NGOs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410712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329684" y="1856232"/>
            <a:ext cx="768096" cy="768096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3" name="Image 3" descr="/home/claude/ngoconnect/icons/volunteer_ro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389" y="2055937"/>
            <a:ext cx="368686" cy="3686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47872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666744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events &amp; needs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in events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enrolments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absence alerts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272784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91756" y="1856232"/>
            <a:ext cx="768096" cy="768096"/>
          </a:xfrm>
          <a:prstGeom prst="ellipse">
            <a:avLst/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8" name="Image 4" descr="/home/claude/ngoconnect/icons/ngo_ro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61" y="2055937"/>
            <a:ext cx="368686" cy="36868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9944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528816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documents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 &amp; content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balance &amp; ledger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withdrawals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9134856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1B4D45"/>
          </a:solidFill>
          <a:ln w="12700">
            <a:solidFill>
              <a:srgbClr val="1B4D45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0053828" y="1856232"/>
            <a:ext cx="768096" cy="7680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3" name="Image 5" descr="/home/claude/ngoconnect/icons/admin_ro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3533" y="2055937"/>
            <a:ext cx="368686" cy="36868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272016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9390888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NGOs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donations &amp; events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withdrawals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Onboarding &amp; Verification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8" name="Image 2" descr="/home/claude/ngoconnect/icons/regi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1965960"/>
            <a:ext cx="512064" cy="512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pic>
        <p:nvPicPr>
          <p:cNvPr id="10" name="Image 3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2327148"/>
            <a:ext cx="237744" cy="2377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42316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2" name="Image 4" descr="/home/claude/ngoconnect/icons/verification_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2948" y="1965960"/>
            <a:ext cx="512064" cy="51206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46888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Docs</a:t>
            </a:r>
            <a:endParaRPr lang="en-US" sz="1000" dirty="0"/>
          </a:p>
        </p:txBody>
      </p:sp>
      <p:pic>
        <p:nvPicPr>
          <p:cNvPr id="14" name="Image 5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2327148"/>
            <a:ext cx="237744" cy="237744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29768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6" name="Image 6" descr="/home/claude/ngoconnect/icons/oc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68" y="1965960"/>
            <a:ext cx="512064" cy="51206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34340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pic>
        <p:nvPicPr>
          <p:cNvPr id="18" name="Image 7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327148"/>
            <a:ext cx="237744" cy="237744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617220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0" name="Image 8" descr="/home/claude/ngoconnect/icons/approv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988" y="1965960"/>
            <a:ext cx="512064" cy="51206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21792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pic>
        <p:nvPicPr>
          <p:cNvPr id="22" name="Image 9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2327148"/>
            <a:ext cx="237744" cy="237744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804672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4" name="Image 10" descr="/home/claude/ngoconnect/icons/admin_ro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508" y="1965960"/>
            <a:ext cx="512064" cy="51206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809244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000" dirty="0"/>
          </a:p>
        </p:txBody>
      </p:sp>
      <p:pic>
        <p:nvPicPr>
          <p:cNvPr id="26" name="Image 11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2327148"/>
            <a:ext cx="237744" cy="237744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992124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F6F63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8" name="Image 12" descr="/home/claude/ngoconnect/icons/list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1965960"/>
            <a:ext cx="512064" cy="51206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9" name="Text 14"/>
          <p:cNvSpPr/>
          <p:nvPr/>
        </p:nvSpPr>
        <p:spPr>
          <a:xfrm>
            <a:off x="996696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Visible</a:t>
            </a:r>
            <a:endParaRPr lang="en-US" sz="1000" dirty="0"/>
          </a:p>
        </p:txBody>
      </p:sp>
      <p:sp>
        <p:nvSpPr>
          <p:cNvPr id="30" name="Text 1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Journey</a:t>
            </a:r>
            <a:endParaRPr lang="en-US" sz="1300" dirty="0"/>
          </a:p>
        </p:txBody>
      </p:sp>
      <p:sp>
        <p:nvSpPr>
          <p:cNvPr id="31" name="Shape 16"/>
          <p:cNvSpPr/>
          <p:nvPr/>
        </p:nvSpPr>
        <p:spPr>
          <a:xfrm>
            <a:off x="54864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2" name="Image 13" descr="/home/claude/ngoconnect/icons/donor_ro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8448" y="3977640"/>
            <a:ext cx="512064" cy="512064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9436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Verified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000" dirty="0"/>
          </a:p>
        </p:txBody>
      </p:sp>
      <p:pic>
        <p:nvPicPr>
          <p:cNvPr id="34" name="Image 14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178" y="4338828"/>
            <a:ext cx="237744" cy="237744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281178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6" name="Image 15" descr="/home/claude/ngoconnect/icons/pay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1588" y="3977640"/>
            <a:ext cx="512064" cy="512064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285750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</a:t>
            </a:r>
            <a:endParaRPr lang="en-US" sz="1000" dirty="0"/>
          </a:p>
        </p:txBody>
      </p:sp>
      <p:pic>
        <p:nvPicPr>
          <p:cNvPr id="38" name="Image 16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318" y="4338828"/>
            <a:ext cx="237744" cy="237744"/>
          </a:xfrm>
          <a:prstGeom prst="rect">
            <a:avLst/>
          </a:prstGeom>
        </p:spPr>
      </p:pic>
      <p:sp>
        <p:nvSpPr>
          <p:cNvPr id="39" name="Shape 20"/>
          <p:cNvSpPr/>
          <p:nvPr/>
        </p:nvSpPr>
        <p:spPr>
          <a:xfrm>
            <a:off x="507492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40" name="Image 17" descr="/home/claude/ngoconnect/icons/hma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4728" y="3977640"/>
            <a:ext cx="512064" cy="512064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512064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pic>
        <p:nvPicPr>
          <p:cNvPr id="42" name="Image 18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458" y="4338828"/>
            <a:ext cx="237744" cy="237744"/>
          </a:xfrm>
          <a:prstGeom prst="rect">
            <a:avLst/>
          </a:prstGeom>
        </p:spPr>
      </p:pic>
      <p:sp>
        <p:nvSpPr>
          <p:cNvPr id="43" name="Shape 22"/>
          <p:cNvSpPr/>
          <p:nvPr/>
        </p:nvSpPr>
        <p:spPr>
          <a:xfrm>
            <a:off x="733806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BEA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44" name="Image 19" descr="/home/claude/ngoconnect/icons/append_ledg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7868" y="3977640"/>
            <a:ext cx="512064" cy="512064"/>
          </a:xfrm>
          <a:prstGeom prst="rect">
            <a:avLst/>
          </a:prstGeom>
        </p:spPr>
      </p:pic>
      <p:sp>
        <p:nvSpPr>
          <p:cNvPr id="45" name="Text 23"/>
          <p:cNvSpPr/>
          <p:nvPr/>
        </p:nvSpPr>
        <p:spPr>
          <a:xfrm>
            <a:off x="738378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Entry</a:t>
            </a:r>
            <a:endParaRPr lang="en-US" sz="1000" dirty="0"/>
          </a:p>
        </p:txBody>
      </p:sp>
      <p:pic>
        <p:nvPicPr>
          <p:cNvPr id="46" name="Image 20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598" y="4338828"/>
            <a:ext cx="237744" cy="237744"/>
          </a:xfrm>
          <a:prstGeom prst="rect">
            <a:avLst/>
          </a:prstGeom>
        </p:spPr>
      </p:pic>
      <p:sp>
        <p:nvSpPr>
          <p:cNvPr id="47" name="Shape 24"/>
          <p:cNvSpPr/>
          <p:nvPr/>
        </p:nvSpPr>
        <p:spPr>
          <a:xfrm>
            <a:off x="960120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88AA0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48" name="Image 21" descr="/home/claude/ngoconnect/icons/receipt_au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3977640"/>
            <a:ext cx="512064" cy="512064"/>
          </a:xfrm>
          <a:prstGeom prst="rect">
            <a:avLst/>
          </a:prstGeom>
        </p:spPr>
      </p:pic>
      <p:sp>
        <p:nvSpPr>
          <p:cNvPr id="49" name="Text 25"/>
          <p:cNvSpPr/>
          <p:nvPr/>
        </p:nvSpPr>
        <p:spPr>
          <a:xfrm>
            <a:off x="964692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80G Receipt</a:t>
            </a:r>
            <a:endParaRPr lang="en-US" sz="1000" dirty="0"/>
          </a:p>
        </p:txBody>
      </p:sp>
      <p:sp>
        <p:nvSpPr>
          <p:cNvPr id="50" name="Text 26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gateway-funded donation is credited only after its HMAC-SHA256 signature is verified and the donation record is atomically claimed.</a:t>
            </a:r>
            <a:endParaRPr lang="en-US" sz="1100" dirty="0"/>
          </a:p>
        </p:txBody>
      </p:sp>
      <p:sp>
        <p:nvSpPr>
          <p:cNvPr id="51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52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554480" y="180136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8" name="Image 2" descr="/home/claude/ngoconnect/icons/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901" y="1967789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8580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8, React Router 7, Axios, CSS3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3355848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361688" y="180136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3" name="Image 3" descr="/home/claude/ngoconnect/icons/back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109" y="1967789"/>
            <a:ext cx="307238" cy="3072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65576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493008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4.1.1, Spring Security, Spring Data MongoDB, Spring Mail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6163056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68896" y="180136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8" name="Image 4" descr="/home/claude/ngoconnect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317" y="1967789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72784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300216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970264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976104" y="180136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3" name="Image 5" descr="/home/claude/ngoconnect/icons/pay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25" y="1967789"/>
            <a:ext cx="307238" cy="30723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079992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9107424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Java SDK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548640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1554480" y="422452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8" name="Image 6" descr="/home/claude/ngoconnect/icons/med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0901" y="4390949"/>
            <a:ext cx="307238" cy="30723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58368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Storage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85800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3355848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361688" y="422452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3" name="Image 7" descr="/home/claude/ngoconnect/icons/pd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8109" y="4390949"/>
            <a:ext cx="307238" cy="30723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465576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/ Receipts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3493008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PDFBox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6163056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168896" y="422452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8" name="Image 8" descr="/home/claude/ngoconnect/icons/oc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4390949"/>
            <a:ext cx="307238" cy="30723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72784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6300216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Tess4J + Tesseract OCR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8970264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9976104" y="422452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43" name="Image 9" descr="/home/claude/ngoconnect/icons/bui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2525" y="4390949"/>
            <a:ext cx="307238" cy="30723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079992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Design Tools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9107424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Maven, PlantUML, Git &amp; GitHub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Design Artifacts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4160520" cy="4892040"/>
          </a:xfrm>
          <a:prstGeom prst="roundRect">
            <a:avLst>
              <a:gd name="adj" fmla="val 1319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pic>
        <p:nvPicPr>
          <p:cNvPr id="7" name="Image 2" descr="/home/claude/ngoconnect/diagrams/sequence_don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559" y="1554480"/>
            <a:ext cx="2484682" cy="4297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59253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Donate via Gateway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892040" y="1417320"/>
            <a:ext cx="6720840" cy="3520440"/>
          </a:xfrm>
          <a:prstGeom prst="roundRect">
            <a:avLst>
              <a:gd name="adj" fmla="val 1558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pic>
        <p:nvPicPr>
          <p:cNvPr id="10" name="Image 3" descr="/home/claude/ngoconnect/diagrams/class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554480"/>
            <a:ext cx="6446520" cy="292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83480" y="4572000"/>
            <a:ext cx="6537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Entities &amp; Associations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892040" y="51663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6F1EE"/>
          </a:solidFill>
          <a:ln w="12700">
            <a:solidFill>
              <a:srgbClr val="D9E3E0"/>
            </a:solidFill>
            <a:prstDash val="solid"/>
          </a:ln>
        </p:spPr>
      </p:sp>
      <p:pic>
        <p:nvPicPr>
          <p:cNvPr id="13" name="Image 4" descr="/home/claude/ngoconnect/icons/use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5367528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150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715000" y="5696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Donor/Volunteer and NGO/Admin capabilities — report p.19–22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8366760" y="51663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6F1EE"/>
          </a:solidFill>
          <a:ln w="12700">
            <a:solidFill>
              <a:srgbClr val="D9E3E0"/>
            </a:solidFill>
            <a:prstDash val="solid"/>
          </a:ln>
        </p:spPr>
      </p:sp>
      <p:pic>
        <p:nvPicPr>
          <p:cNvPr id="17" name="Image 5" descr="/home/claude/ngoconnect/icons/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5367528"/>
            <a:ext cx="502920" cy="5029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18972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189720" y="5696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&amp; NGO registration workflows — report p.24–28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Financial Correctness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3232" y="1943100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8" name="Image 2" descr="/home/claude/ngoconnect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109521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34340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07992" y="1943100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2" name="Image 3" descr="/home/claude/ngoconnect/icons/role_au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2109521"/>
            <a:ext cx="307238" cy="3072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352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813816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02752" y="1943100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16" name="Image 4" descr="/home/claude/ngoconnect/icons/h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210952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828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payment verification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4864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713232" y="356158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0" name="Image 5" descr="/home/claude/ngoconnect/icons/atom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3" y="3728009"/>
            <a:ext cx="307238" cy="3072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0876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wallet / balance operations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434340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07992" y="356158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4" name="Image 6" descr="/home/claude/ngoconnect/icons/append_led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4413" y="3728009"/>
            <a:ext cx="307238" cy="3072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0352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append-only ledger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813816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8302752" y="3561588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8" name="Image 7" descr="/home/claude/ngoconnect/icons/dedup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9173" y="3728009"/>
            <a:ext cx="307238" cy="30723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09828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Duplicate-payment protection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54864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13232" y="5180076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2" name="Image 8" descr="/home/claude/ngoconnect/icons/recove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653" y="5346497"/>
            <a:ext cx="307238" cy="30723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50876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Server-to-server payment recovery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434340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507992" y="5180076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36" name="Image 9" descr="/home/claude/ngoconnect/icons/clea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4413" y="5346497"/>
            <a:ext cx="307238" cy="30723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0352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/ clearing period</a:t>
            </a:r>
            <a:endParaRPr lang="en-US" sz="1250" dirty="0"/>
          </a:p>
        </p:txBody>
      </p:sp>
      <p:sp>
        <p:nvSpPr>
          <p:cNvPr id="38" name="Shape 26"/>
          <p:cNvSpPr/>
          <p:nvPr/>
        </p:nvSpPr>
        <p:spPr>
          <a:xfrm>
            <a:off x="813816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D9E3E0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302752" y="5180076"/>
            <a:ext cx="640080" cy="640080"/>
          </a:xfrm>
          <a:prstGeom prst="ellipse">
            <a:avLst/>
          </a:prstGeom>
          <a:solidFill>
            <a:srgbClr val="E6F1EE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40" name="Image 10" descr="/home/claude/ngoconnect/icons/mask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9173" y="5346497"/>
            <a:ext cx="307238" cy="30723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09828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payout information</a:t>
            </a:r>
            <a:endParaRPr lang="en-US" sz="1250" dirty="0"/>
          </a:p>
        </p:txBody>
      </p:sp>
      <p:sp>
        <p:nvSpPr>
          <p:cNvPr id="42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Enhancements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BEAEE"/>
          </a:solidFill>
          <a:ln w="12700">
            <a:solidFill>
              <a:srgbClr val="D9E3E0"/>
            </a:solidFill>
            <a:prstDash val="solid"/>
          </a:ln>
        </p:spPr>
      </p:sp>
      <p:pic>
        <p:nvPicPr>
          <p:cNvPr id="7" name="Image 2" descr="/home/claude/ngoconnect/icons/limi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10512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005840" y="2468880"/>
            <a:ext cx="4434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payout execution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document verification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Basic authentication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currency (INR)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donations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app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uses polling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6F1EE"/>
          </a:solidFill>
          <a:ln w="12700">
            <a:solidFill>
              <a:srgbClr val="D9E3E0"/>
            </a:solidFill>
            <a:prstDash val="solid"/>
          </a:ln>
        </p:spPr>
      </p:sp>
      <p:pic>
        <p:nvPicPr>
          <p:cNvPr id="11" name="Image 3" descr="/home/claude/ngoconnect/icons/fu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810512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04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720840" y="2468880"/>
            <a:ext cx="4434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authentication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payouts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Campaign-level fundraising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donations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registry verification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transparency reporting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donor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pic>
        <p:nvPicPr>
          <p:cNvPr id="3" name="Image 1" descr="/home/claude/ngoconnect/icons/volunteers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pic>
        <p:nvPicPr>
          <p:cNvPr id="4" name="Image 2" descr="/home/claude/ngoconnect/icons/plus_deco.png"/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548640" y="6035040"/>
            <a:ext cx="274320" cy="274320"/>
          </a:xfrm>
          <a:prstGeom prst="rect">
            <a:avLst/>
          </a:prstGeom>
        </p:spPr>
      </p:pic>
      <p:pic>
        <p:nvPicPr>
          <p:cNvPr id="5" name="Image 3" descr="/home/claude/ngoconnect/icons/plus_deco.png"/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11247120" y="6035040"/>
            <a:ext cx="274320" cy="2743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E88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Shape 1"/>
          <p:cNvSpPr/>
          <p:nvPr/>
        </p:nvSpPr>
        <p:spPr>
          <a:xfrm>
            <a:off x="640080" y="1280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E46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8" name="Image 4" descr="/home/claude/ngoconnect/icons/conclusion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719072"/>
            <a:ext cx="585216" cy="585216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600200" y="138988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verified NGOs, donors and volunteers on one trustworthy platform</a:t>
            </a:r>
            <a:endParaRPr lang="en-US" sz="1250" dirty="0"/>
          </a:p>
        </p:txBody>
      </p:sp>
      <p:sp>
        <p:nvSpPr>
          <p:cNvPr id="10" name="Shape 3"/>
          <p:cNvSpPr/>
          <p:nvPr/>
        </p:nvSpPr>
        <p:spPr>
          <a:xfrm>
            <a:off x="6263640" y="1280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E46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11" name="Image 5" descr="/home/claude/ngoconnect/icons/conclusion_tru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719072"/>
            <a:ext cx="585216" cy="58521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223760" y="138988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trust and traceability through document verification and an append-only ledger</a:t>
            </a:r>
            <a:endParaRPr lang="en-US" sz="1250" dirty="0"/>
          </a:p>
        </p:txBody>
      </p:sp>
      <p:sp>
        <p:nvSpPr>
          <p:cNvPr id="13" name="Shape 5"/>
          <p:cNvSpPr/>
          <p:nvPr/>
        </p:nvSpPr>
        <p:spPr>
          <a:xfrm>
            <a:off x="640080" y="3017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E46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14" name="Image 6" descr="/home/claude/ngoconnect/icons/conclusion_aut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456432"/>
            <a:ext cx="585216" cy="58521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600200" y="312724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80G donation receipts and financial record-keeping</a:t>
            </a:r>
            <a:endParaRPr lang="en-US" sz="1250" dirty="0"/>
          </a:p>
        </p:txBody>
      </p:sp>
      <p:sp>
        <p:nvSpPr>
          <p:cNvPr id="16" name="Shape 7"/>
          <p:cNvSpPr/>
          <p:nvPr/>
        </p:nvSpPr>
        <p:spPr>
          <a:xfrm>
            <a:off x="6263640" y="3017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234E46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17" name="Image 7" descr="/home/claude/ngoconnect/icons/conclusion_fu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456432"/>
            <a:ext cx="585216" cy="58521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223760" y="312724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solid foundation for campaigns, recurring giving and mobile expansion</a:t>
            </a:r>
            <a:endParaRPr lang="en-US" sz="1250" dirty="0"/>
          </a:p>
        </p:txBody>
      </p:sp>
      <p:sp>
        <p:nvSpPr>
          <p:cNvPr id="19" name="Shape 9"/>
          <p:cNvSpPr/>
          <p:nvPr/>
        </p:nvSpPr>
        <p:spPr>
          <a:xfrm>
            <a:off x="5090008" y="4709160"/>
            <a:ext cx="2011680" cy="0"/>
          </a:xfrm>
          <a:prstGeom prst="line">
            <a:avLst/>
          </a:prstGeom>
          <a:noFill/>
          <a:ln w="19050">
            <a:solidFill>
              <a:srgbClr val="E88AA0"/>
            </a:solidFill>
            <a:prstDash val="solid"/>
          </a:ln>
        </p:spPr>
      </p:sp>
      <p:sp>
        <p:nvSpPr>
          <p:cNvPr id="20" name="Shape 10"/>
          <p:cNvSpPr/>
          <p:nvPr/>
        </p:nvSpPr>
        <p:spPr>
          <a:xfrm>
            <a:off x="5684368" y="4892040"/>
            <a:ext cx="822960" cy="822960"/>
          </a:xfrm>
          <a:prstGeom prst="ellipse">
            <a:avLst/>
          </a:prstGeom>
          <a:solidFill>
            <a:srgbClr val="234E46"/>
          </a:solidFill>
          <a:ln w="9525">
            <a:solidFill>
              <a:srgbClr val="D9E3E0"/>
            </a:solidFill>
            <a:prstDash val="solid"/>
          </a:ln>
        </p:spPr>
      </p:sp>
      <p:pic>
        <p:nvPicPr>
          <p:cNvPr id="21" name="Image 8" descr="/home/claude/ngoconnect/icons/thank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5106010"/>
            <a:ext cx="395021" cy="395021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31520" y="580644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800</Words>
  <Application>Microsoft Office PowerPoint</Application>
  <PresentationFormat>Widescreen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Dhrumil Jadav</cp:lastModifiedBy>
  <cp:revision>2</cp:revision>
  <dcterms:created xsi:type="dcterms:W3CDTF">2026-09-18T18:04:30Z</dcterms:created>
  <dcterms:modified xsi:type="dcterms:W3CDTF">2026-09-18T18:08:27Z</dcterms:modified>
</cp:coreProperties>
</file>