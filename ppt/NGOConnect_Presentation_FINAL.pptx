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41472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22.png"/><Relationship Id="rId5" Type="http://schemas.openxmlformats.org/officeDocument/2006/relationships/image" Target="../media/image16.png"/><Relationship Id="rId6" Type="http://schemas.openxmlformats.org/officeDocument/2006/relationships/image" Target="../media/image20.png"/><Relationship Id="rId7" Type="http://schemas.openxmlformats.org/officeDocument/2006/relationships/image" Target="../media/image23.png"/><Relationship Id="rId8" Type="http://schemas.openxmlformats.org/officeDocument/2006/relationships/image" Target="../media/image4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26.png"/><Relationship Id="rId5" Type="http://schemas.openxmlformats.org/officeDocument/2006/relationships/image" Target="../media/image2.png"/><Relationship Id="rId6" Type="http://schemas.openxmlformats.org/officeDocument/2006/relationships/image" Target="../media/image27.png"/><Relationship Id="rId7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28.png"/><Relationship Id="rId8" Type="http://schemas.openxmlformats.org/officeDocument/2006/relationships/image" Target="../media/image17.png"/><Relationship Id="rId9" Type="http://schemas.openxmlformats.org/officeDocument/2006/relationships/image" Target="../media/image3.png"/><Relationship Id="rId10" Type="http://schemas.openxmlformats.org/officeDocument/2006/relationships/image" Target="../media/image18.png"/><Relationship Id="rId11" Type="http://schemas.openxmlformats.org/officeDocument/2006/relationships/image" Target="../media/image26.png"/><Relationship Id="rId12" Type="http://schemas.openxmlformats.org/officeDocument/2006/relationships/image" Target="../media/image20.png"/><Relationship Id="rId13" Type="http://schemas.openxmlformats.org/officeDocument/2006/relationships/image" Target="../media/image29.png"/><Relationship Id="rId14" Type="http://schemas.openxmlformats.org/officeDocument/2006/relationships/image" Target="../media/image2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20.png"/><Relationship Id="rId8" Type="http://schemas.openxmlformats.org/officeDocument/2006/relationships/image" Target="../media/image33.png"/><Relationship Id="rId9" Type="http://schemas.openxmlformats.org/officeDocument/2006/relationships/image" Target="../media/image16.png"/><Relationship Id="rId10" Type="http://schemas.openxmlformats.org/officeDocument/2006/relationships/image" Target="../media/image28.png"/><Relationship Id="rId11" Type="http://schemas.openxmlformats.org/officeDocument/2006/relationships/image" Target="../media/image3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39.png"/><Relationship Id="rId5" Type="http://schemas.openxmlformats.org/officeDocument/2006/relationships/image" Target="../media/image22.png"/><Relationship Id="rId6" Type="http://schemas.openxmlformats.org/officeDocument/2006/relationships/image" Target="../media/image29.png"/><Relationship Id="rId7" Type="http://schemas.openxmlformats.org/officeDocument/2006/relationships/image" Target="../media/image40.png"/><Relationship Id="rId8" Type="http://schemas.openxmlformats.org/officeDocument/2006/relationships/image" Target="../media/image21.png"/><Relationship Id="rId9" Type="http://schemas.openxmlformats.org/officeDocument/2006/relationships/image" Target="../media/image41.png"/><Relationship Id="rId10" Type="http://schemas.openxmlformats.org/officeDocument/2006/relationships/image" Target="../media/image42.png"/><Relationship Id="rId11" Type="http://schemas.openxmlformats.org/officeDocument/2006/relationships/image" Target="../media/image43.png"/><Relationship Id="rId12" Type="http://schemas.openxmlformats.org/officeDocument/2006/relationships/image" Target="../media/image4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3.png"/><Relationship Id="rId8" Type="http://schemas.openxmlformats.org/officeDocument/2006/relationships/image" Target="../media/image47.png"/><Relationship Id="rId9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ngoconnect/icons/donors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640080" y="548640"/>
            <a:ext cx="502920" cy="502920"/>
          </a:xfrm>
          <a:prstGeom prst="rect">
            <a:avLst/>
          </a:prstGeom>
        </p:spPr>
      </p:pic>
      <p:pic>
        <p:nvPicPr>
          <p:cNvPr id="3" name="Image 1" descr="/home/claude/ngoconnect/icons/volunteers.png"/>
          <p:cNvPicPr>
            <a:picLocks noChangeAspect="1"/>
          </p:cNvPicPr>
          <p:nvPr/>
        </p:nvPicPr>
        <p:blipFill>
          <a:blip r:embed="rId4">
            <a:alphaModFix amt="75000"/>
          </a:blip>
          <a:stretch>
            <a:fillRect/>
          </a:stretch>
        </p:blipFill>
        <p:spPr>
          <a:xfrm>
            <a:off x="11064240" y="457200"/>
            <a:ext cx="502920" cy="502920"/>
          </a:xfrm>
          <a:prstGeom prst="rect">
            <a:avLst/>
          </a:prstGeom>
        </p:spPr>
      </p:pic>
      <p:pic>
        <p:nvPicPr>
          <p:cNvPr id="4" name="Image 2" descr="/home/claude/ngoconnect/icons/verified_ngo.png"/>
          <p:cNvPicPr>
            <a:picLocks noChangeAspect="1"/>
          </p:cNvPicPr>
          <p:nvPr/>
        </p:nvPicPr>
        <p:blipFill>
          <a:blip r:embed="rId5">
            <a:alphaModFix amt="75000"/>
          </a:blip>
          <a:stretch>
            <a:fillRect/>
          </a:stretch>
        </p:blipFill>
        <p:spPr>
          <a:xfrm>
            <a:off x="502920" y="5669280"/>
            <a:ext cx="457200" cy="457200"/>
          </a:xfrm>
          <a:prstGeom prst="rect">
            <a:avLst/>
          </a:prstGeom>
        </p:spPr>
      </p:pic>
      <p:pic>
        <p:nvPicPr>
          <p:cNvPr id="5" name="Image 3" descr="/home/claude/ngoconnect/icons/events.png"/>
          <p:cNvPicPr>
            <a:picLocks noChangeAspect="1"/>
          </p:cNvPicPr>
          <p:nvPr/>
        </p:nvPicPr>
        <p:blipFill>
          <a:blip r:embed="rId6">
            <a:alphaModFix amt="75000"/>
          </a:blip>
          <a:stretch>
            <a:fillRect/>
          </a:stretch>
        </p:blipFill>
        <p:spPr>
          <a:xfrm>
            <a:off x="11155680" y="5394960"/>
            <a:ext cx="457200" cy="457200"/>
          </a:xfrm>
          <a:prstGeom prst="rect">
            <a:avLst/>
          </a:prstGeom>
        </p:spPr>
      </p:pic>
      <p:pic>
        <p:nvPicPr>
          <p:cNvPr id="6" name="Image 4" descr="/home/claude/ngoconnect/icons/plus_deco.png"/>
          <p:cNvPicPr>
            <a:picLocks noChangeAspect="1"/>
          </p:cNvPicPr>
          <p:nvPr/>
        </p:nvPicPr>
        <p:blipFill>
          <a:blip r:embed="rId7">
            <a:alphaModFix amt="75000"/>
          </a:blip>
          <a:stretch>
            <a:fillRect/>
          </a:stretch>
        </p:blipFill>
        <p:spPr>
          <a:xfrm>
            <a:off x="6035040" y="320040"/>
            <a:ext cx="256032" cy="256032"/>
          </a:xfrm>
          <a:prstGeom prst="rect">
            <a:avLst/>
          </a:prstGeom>
        </p:spPr>
      </p:pic>
      <p:pic>
        <p:nvPicPr>
          <p:cNvPr id="7" name="Image 5" descr="/home/claude/ngoconnect/icons/plus_deco.png"/>
          <p:cNvPicPr>
            <a:picLocks noChangeAspect="1"/>
          </p:cNvPicPr>
          <p:nvPr/>
        </p:nvPicPr>
        <p:blipFill>
          <a:blip r:embed="rId7">
            <a:alphaModFix amt="75000"/>
          </a:blip>
          <a:stretch>
            <a:fillRect/>
          </a:stretch>
        </p:blipFill>
        <p:spPr>
          <a:xfrm>
            <a:off x="1463040" y="5120640"/>
            <a:ext cx="237744" cy="237744"/>
          </a:xfrm>
          <a:prstGeom prst="rect">
            <a:avLst/>
          </a:prstGeom>
        </p:spPr>
      </p:pic>
      <p:pic>
        <p:nvPicPr>
          <p:cNvPr id="8" name="Image 6" descr="/home/claude/ngoconnect/icons/plus_deco.png"/>
          <p:cNvPicPr>
            <a:picLocks noChangeAspect="1"/>
          </p:cNvPicPr>
          <p:nvPr/>
        </p:nvPicPr>
        <p:blipFill>
          <a:blip r:embed="rId7">
            <a:alphaModFix amt="75000"/>
          </a:blip>
          <a:stretch>
            <a:fillRect/>
          </a:stretch>
        </p:blipFill>
        <p:spPr>
          <a:xfrm>
            <a:off x="10424160" y="1280160"/>
            <a:ext cx="237744" cy="237744"/>
          </a:xfrm>
          <a:prstGeom prst="rect">
            <a:avLst/>
          </a:prstGeom>
        </p:spPr>
      </p:pic>
      <p:sp>
        <p:nvSpPr>
          <p:cNvPr id="9" name="Shape 0"/>
          <p:cNvSpPr/>
          <p:nvPr/>
        </p:nvSpPr>
        <p:spPr>
          <a:xfrm>
            <a:off x="5592928" y="1417320"/>
            <a:ext cx="1005840" cy="1005840"/>
          </a:xfrm>
          <a:prstGeom prst="ellipse">
            <a:avLst/>
          </a:prstGeom>
          <a:solidFill>
            <a:srgbClr val="EAF0F9"/>
          </a:solidFill>
          <a:ln w="9525">
            <a:solidFill>
              <a:srgbClr val="D9E2F3"/>
            </a:solidFill>
            <a:prstDash val="solid"/>
          </a:ln>
        </p:spPr>
        <p:txBody>
          <a:bodyPr/>
          <a:p/>
        </p:txBody>
      </p:sp>
      <p:pic>
        <p:nvPicPr>
          <p:cNvPr id="10" name="Image 7" descr="/home/claude/ngoconnect/icons/conclusion_lin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54446" y="1678838"/>
            <a:ext cx="482803" cy="482803"/>
          </a:xfrm>
          <a:prstGeom prst="rect">
            <a:avLst/>
          </a:prstGeom>
        </p:spPr>
      </p:pic>
      <p:sp>
        <p:nvSpPr>
          <p:cNvPr id="11" name="Text 1"/>
          <p:cNvSpPr/>
          <p:nvPr/>
        </p:nvSpPr>
        <p:spPr>
          <a:xfrm>
            <a:off x="731520" y="2697480"/>
            <a:ext cx="107286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kern="0" spc="100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NGOCONNECT</a:t>
            </a:r>
            <a:endParaRPr lang="en-US" sz="5400" dirty="0"/>
          </a:p>
        </p:txBody>
      </p:sp>
      <p:sp>
        <p:nvSpPr>
          <p:cNvPr id="12" name="Text 2"/>
          <p:cNvSpPr/>
          <p:nvPr/>
        </p:nvSpPr>
        <p:spPr>
          <a:xfrm>
            <a:off x="1188720" y="3611880"/>
            <a:ext cx="98142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Web-Based Platform Connecting Verified NGOs, Donors and Volunteers</a:t>
            </a:r>
            <a:endParaRPr lang="en-US" sz="1800" dirty="0"/>
          </a:p>
        </p:txBody>
      </p:sp>
      <p:sp>
        <p:nvSpPr>
          <p:cNvPr id="13" name="Shape 3"/>
          <p:cNvSpPr/>
          <p:nvPr/>
        </p:nvSpPr>
        <p:spPr>
          <a:xfrm>
            <a:off x="5090008" y="4315968"/>
            <a:ext cx="2011680" cy="0"/>
          </a:xfrm>
          <a:prstGeom prst="line">
            <a:avLst/>
          </a:prstGeom>
          <a:noFill/>
          <a:ln w="19050">
            <a:solidFill>
              <a:srgbClr val="2F75B5"/>
            </a:solidFill>
            <a:prstDash val="solid"/>
          </a:ln>
        </p:spPr>
        <p:txBody>
          <a:bodyPr/>
          <a:p/>
        </p:txBody>
      </p:sp>
      <p:sp>
        <p:nvSpPr>
          <p:cNvPr id="14" name="Text 4"/>
          <p:cNvSpPr/>
          <p:nvPr/>
        </p:nvSpPr>
        <p:spPr>
          <a:xfrm>
            <a:off x="1188720" y="4526280"/>
            <a:ext cx="981425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7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Sardar Vallabhbhai Global University
</a:t>
            </a: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Computer Applications
</a:t>
            </a: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III  |  Academic Year 2026–27</a:t>
            </a:r>
            <a:endParaRPr lang="en-US" sz="1400" dirty="0"/>
          </a:p>
        </p:txBody>
      </p:sp>
      <p:sp>
        <p:nvSpPr>
          <p:cNvPr id="15" name="Text 5"/>
          <p:cNvSpPr/>
          <p:nvPr/>
        </p:nvSpPr>
        <p:spPr>
          <a:xfrm>
            <a:off x="1188720" y="5623560"/>
            <a:ext cx="98142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7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</a:t>
            </a:r>
            <a:r>
              <a:rPr lang="en-US" sz="12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[Student Name] – [Enrolment Number], [Student Name] – [Enrolment Number]
</a:t>
            </a:r>
            <a:r>
              <a:rPr lang="en-US" sz="1200" b="1" dirty="0">
                <a:solidFill>
                  <a:srgbClr val="17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Guide: </a:t>
            </a:r>
            <a:r>
              <a:rPr lang="en-US" sz="12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Dr./Prof. [Faculty Guide Name]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ngoconnect/icons/plus_deco.png"/>
          <p:cNvPicPr>
            <a:picLocks noChangeAspect="1"/>
          </p:cNvPicPr>
          <p:nvPr/>
        </p:nvPicPr>
        <p:blipFill>
          <a:blip r:embed="rId3">
            <a:alphaModFix amt="55000"/>
          </a:blip>
          <a:stretch>
            <a:fillRect/>
          </a:stretch>
        </p:blipFill>
        <p:spPr>
          <a:xfrm>
            <a:off x="11688775" y="228600"/>
            <a:ext cx="256032" cy="256032"/>
          </a:xfrm>
          <a:prstGeom prst="rect">
            <a:avLst/>
          </a:prstGeom>
        </p:spPr>
      </p:pic>
      <p:pic>
        <p:nvPicPr>
          <p:cNvPr id="3" name="Image 1" descr="/home/claude/ngoconnect/icons/plus_deco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228600" y="6355080"/>
            <a:ext cx="219456" cy="21945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7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NGOConnect?</a:t>
            </a:r>
            <a:endParaRPr lang="en-US" sz="3200" dirty="0"/>
          </a:p>
        </p:txBody>
      </p:sp>
      <p:sp>
        <p:nvSpPr>
          <p:cNvPr id="6" name="Text 2"/>
          <p:cNvSpPr/>
          <p:nvPr/>
        </p:nvSpPr>
        <p:spPr>
          <a:xfrm>
            <a:off x="548640" y="141732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platform where government-registered NGOs are verified before becoming publicly visible, donors can give with confidence, and volunteers can discover ways to contribute their time.</a:t>
            </a:r>
            <a:endParaRPr lang="en-US" sz="1500" dirty="0"/>
          </a:p>
        </p:txBody>
      </p:sp>
      <p:sp>
        <p:nvSpPr>
          <p:cNvPr id="7" name="Shape 3"/>
          <p:cNvSpPr/>
          <p:nvPr/>
        </p:nvSpPr>
        <p:spPr>
          <a:xfrm>
            <a:off x="548640" y="2423160"/>
            <a:ext cx="2606040" cy="3246120"/>
          </a:xfrm>
          <a:prstGeom prst="roundRect">
            <a:avLst>
              <a:gd name="adj" fmla="val 3509"/>
            </a:avLst>
          </a:prstGeom>
          <a:solidFill>
            <a:srgbClr val="F3F6FA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1440180" y="2743200"/>
            <a:ext cx="822960" cy="822960"/>
          </a:xfrm>
          <a:prstGeom prst="ellipse">
            <a:avLst/>
          </a:prstGeom>
          <a:solidFill>
            <a:srgbClr val="EAF0F9"/>
          </a:solidFill>
          <a:ln w="9525">
            <a:solidFill>
              <a:srgbClr val="D9E2F3"/>
            </a:solidFill>
            <a:prstDash val="solid"/>
          </a:ln>
        </p:spPr>
      </p:sp>
      <p:pic>
        <p:nvPicPr>
          <p:cNvPr id="9" name="Image 2" descr="/home/claude/ngoconnect/icons/verified_n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4150" y="2957170"/>
            <a:ext cx="395021" cy="39502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85800" y="37490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NGOs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731520" y="434340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Organisations are checked and approved before donors ever see them.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3410712" y="2423160"/>
            <a:ext cx="2606040" cy="3246120"/>
          </a:xfrm>
          <a:prstGeom prst="roundRect">
            <a:avLst>
              <a:gd name="adj" fmla="val 3509"/>
            </a:avLst>
          </a:prstGeom>
          <a:solidFill>
            <a:srgbClr val="F3F6FA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4302252" y="2743200"/>
            <a:ext cx="822960" cy="822960"/>
          </a:xfrm>
          <a:prstGeom prst="ellipse">
            <a:avLst/>
          </a:prstGeom>
          <a:solidFill>
            <a:srgbClr val="DEEAF6"/>
          </a:solidFill>
          <a:ln w="9525">
            <a:solidFill>
              <a:srgbClr val="D9E2F3"/>
            </a:solidFill>
            <a:prstDash val="solid"/>
          </a:ln>
        </p:spPr>
      </p:sp>
      <p:pic>
        <p:nvPicPr>
          <p:cNvPr id="14" name="Image 3" descr="/home/claude/ngoconnect/icons/dono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6222" y="2957170"/>
            <a:ext cx="395021" cy="39502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547872" y="37490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Donors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3593592" y="434340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confidently via gateway or in-platform wallet, with automatic 80G receipts.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6272784" y="2423160"/>
            <a:ext cx="2606040" cy="3246120"/>
          </a:xfrm>
          <a:prstGeom prst="roundRect">
            <a:avLst>
              <a:gd name="adj" fmla="val 3509"/>
            </a:avLst>
          </a:prstGeom>
          <a:solidFill>
            <a:srgbClr val="F3F6FA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7164324" y="2743200"/>
            <a:ext cx="822960" cy="822960"/>
          </a:xfrm>
          <a:prstGeom prst="ellipse">
            <a:avLst/>
          </a:prstGeom>
          <a:solidFill>
            <a:srgbClr val="DEEAF6"/>
          </a:solidFill>
          <a:ln w="9525">
            <a:solidFill>
              <a:srgbClr val="D9E2F3"/>
            </a:solidFill>
            <a:prstDash val="solid"/>
          </a:ln>
        </p:spPr>
      </p:sp>
      <p:pic>
        <p:nvPicPr>
          <p:cNvPr id="19" name="Image 4" descr="/home/claude/ngoconnect/icons/volunte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8294" y="2957170"/>
            <a:ext cx="395021" cy="39502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409944" y="37490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Volunteers</a:t>
            </a:r>
            <a:endParaRPr lang="en-US" sz="1500" dirty="0"/>
          </a:p>
        </p:txBody>
      </p:sp>
      <p:sp>
        <p:nvSpPr>
          <p:cNvPr id="21" name="Text 14"/>
          <p:cNvSpPr/>
          <p:nvPr/>
        </p:nvSpPr>
        <p:spPr>
          <a:xfrm>
            <a:off x="6455664" y="434340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events and enrol to contribute time alongside money.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9134856" y="2423160"/>
            <a:ext cx="2606040" cy="3246120"/>
          </a:xfrm>
          <a:prstGeom prst="roundRect">
            <a:avLst>
              <a:gd name="adj" fmla="val 3509"/>
            </a:avLst>
          </a:prstGeom>
          <a:solidFill>
            <a:srgbClr val="F3F6FA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10026396" y="2743200"/>
            <a:ext cx="822960" cy="822960"/>
          </a:xfrm>
          <a:prstGeom prst="ellipse">
            <a:avLst/>
          </a:prstGeom>
          <a:solidFill>
            <a:srgbClr val="EAF0F9"/>
          </a:solidFill>
          <a:ln w="9525">
            <a:solidFill>
              <a:srgbClr val="D9E2F3"/>
            </a:solidFill>
            <a:prstDash val="solid"/>
          </a:ln>
        </p:spPr>
      </p:sp>
      <p:pic>
        <p:nvPicPr>
          <p:cNvPr id="24" name="Image 5" descr="/home/claude/ngoconnect/icons/trus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0366" y="2957170"/>
            <a:ext cx="395021" cy="395021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272016" y="37490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Trust, Convenience &amp; Transparency</a:t>
            </a:r>
            <a:endParaRPr lang="en-US" sz="1500" dirty="0"/>
          </a:p>
        </p:txBody>
      </p:sp>
      <p:sp>
        <p:nvSpPr>
          <p:cNvPr id="26" name="Text 18"/>
          <p:cNvSpPr/>
          <p:nvPr/>
        </p:nvSpPr>
        <p:spPr>
          <a:xfrm>
            <a:off x="9317736" y="434340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Verification, traceable ledgers and simplified giving in one system.</a:t>
            </a:r>
            <a:endParaRPr lang="en-US" sz="1100" dirty="0"/>
          </a:p>
        </p:txBody>
      </p:sp>
      <p:sp>
        <p:nvSpPr>
          <p:cNvPr id="27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NGOConnect  |  Sardar Vallabhbhai Global University</a:t>
            </a:r>
            <a:endParaRPr lang="en-US" sz="900" dirty="0"/>
          </a:p>
        </p:txBody>
      </p:sp>
      <p:sp>
        <p:nvSpPr>
          <p:cNvPr id="28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ngoconnect/icons/plus_deco.png"/>
          <p:cNvPicPr>
            <a:picLocks noChangeAspect="1"/>
          </p:cNvPicPr>
          <p:nvPr/>
        </p:nvPicPr>
        <p:blipFill>
          <a:blip r:embed="rId3">
            <a:alphaModFix amt="55000"/>
          </a:blip>
          <a:stretch>
            <a:fillRect/>
          </a:stretch>
        </p:blipFill>
        <p:spPr>
          <a:xfrm>
            <a:off x="11688775" y="228600"/>
            <a:ext cx="256032" cy="256032"/>
          </a:xfrm>
          <a:prstGeom prst="rect">
            <a:avLst/>
          </a:prstGeom>
        </p:spPr>
      </p:pic>
      <p:pic>
        <p:nvPicPr>
          <p:cNvPr id="3" name="Image 1" descr="/home/claude/ngoconnect/icons/plus_deco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228600" y="6355080"/>
            <a:ext cx="219456" cy="21945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7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Drawbacks of the Existing System</a:t>
            </a:r>
            <a:endParaRPr lang="en-US" sz="3200" dirty="0"/>
          </a:p>
        </p:txBody>
      </p:sp>
      <p:sp>
        <p:nvSpPr>
          <p:cNvPr id="6" name="Shape 2"/>
          <p:cNvSpPr/>
          <p:nvPr/>
        </p:nvSpPr>
        <p:spPr>
          <a:xfrm>
            <a:off x="548640" y="160020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3F6FA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713232" y="1764792"/>
            <a:ext cx="566928" cy="566928"/>
          </a:xfrm>
          <a:prstGeom prst="ellipse">
            <a:avLst/>
          </a:prstGeom>
          <a:solidFill>
            <a:srgbClr val="DEEAF6"/>
          </a:solidFill>
          <a:ln w="9525">
            <a:solidFill>
              <a:srgbClr val="D9E2F3"/>
            </a:solidFill>
            <a:prstDash val="solid"/>
          </a:ln>
        </p:spPr>
      </p:sp>
      <p:pic>
        <p:nvPicPr>
          <p:cNvPr id="8" name="Image 2" descr="/home/claude/ngoconnect/icons/no_verif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633" y="1912193"/>
            <a:ext cx="272125" cy="27212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417320" y="1719072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7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verification of legitimacy</a:t>
            </a:r>
            <a:endParaRPr lang="en-US" sz="1250" dirty="0"/>
          </a:p>
        </p:txBody>
      </p:sp>
      <p:sp>
        <p:nvSpPr>
          <p:cNvPr id="10" name="Text 5"/>
          <p:cNvSpPr/>
          <p:nvPr/>
        </p:nvSpPr>
        <p:spPr>
          <a:xfrm>
            <a:off x="731520" y="2441448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donor cannot confirm an NGO holds valid registration, PAN or Darpan identity.</a:t>
            </a:r>
            <a:endParaRPr lang="en-US" sz="1050" dirty="0"/>
          </a:p>
        </p:txBody>
      </p:sp>
      <p:sp>
        <p:nvSpPr>
          <p:cNvPr id="11" name="Shape 6"/>
          <p:cNvSpPr/>
          <p:nvPr/>
        </p:nvSpPr>
        <p:spPr>
          <a:xfrm>
            <a:off x="4343400" y="160020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3F6FA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4507992" y="1764792"/>
            <a:ext cx="566928" cy="566928"/>
          </a:xfrm>
          <a:prstGeom prst="ellipse">
            <a:avLst/>
          </a:prstGeom>
          <a:solidFill>
            <a:srgbClr val="DEEAF6"/>
          </a:solidFill>
          <a:ln w="9525">
            <a:solidFill>
              <a:srgbClr val="D9E2F3"/>
            </a:solidFill>
            <a:prstDash val="solid"/>
          </a:ln>
        </p:spPr>
      </p:sp>
      <p:pic>
        <p:nvPicPr>
          <p:cNvPr id="13" name="Image 3" descr="/home/claude/ngoconnect/icons/discove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5393" y="1912193"/>
            <a:ext cx="272125" cy="27212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212080" y="1719072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7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NGO discovery</a:t>
            </a:r>
            <a:endParaRPr lang="en-US" sz="1250" dirty="0"/>
          </a:p>
        </p:txBody>
      </p:sp>
      <p:sp>
        <p:nvSpPr>
          <p:cNvPr id="15" name="Text 9"/>
          <p:cNvSpPr/>
          <p:nvPr/>
        </p:nvSpPr>
        <p:spPr>
          <a:xfrm>
            <a:off x="4526280" y="2441448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searchable catalogue of verified organisations by city or cause.</a:t>
            </a:r>
            <a:endParaRPr lang="en-US" sz="1050" dirty="0"/>
          </a:p>
        </p:txBody>
      </p:sp>
      <p:sp>
        <p:nvSpPr>
          <p:cNvPr id="16" name="Shape 10"/>
          <p:cNvSpPr/>
          <p:nvPr/>
        </p:nvSpPr>
        <p:spPr>
          <a:xfrm>
            <a:off x="8138160" y="160020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3F6FA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8302752" y="1764792"/>
            <a:ext cx="566928" cy="566928"/>
          </a:xfrm>
          <a:prstGeom prst="ellipse">
            <a:avLst/>
          </a:prstGeom>
          <a:solidFill>
            <a:srgbClr val="DEEAF6"/>
          </a:solidFill>
          <a:ln w="9525">
            <a:solidFill>
              <a:srgbClr val="D9E2F3"/>
            </a:solidFill>
            <a:prstDash val="solid"/>
          </a:ln>
        </p:spPr>
      </p:sp>
      <p:pic>
        <p:nvPicPr>
          <p:cNvPr id="18" name="Image 4" descr="/home/claude/ngoconnect/icons/traceabilit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0153" y="1912193"/>
            <a:ext cx="272125" cy="27212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9006840" y="1719072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7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</a:t>
            </a:r>
            <a:endParaRPr lang="en-US" sz="1250" dirty="0"/>
          </a:p>
        </p:txBody>
      </p:sp>
      <p:sp>
        <p:nvSpPr>
          <p:cNvPr id="20" name="Text 13"/>
          <p:cNvSpPr/>
          <p:nvPr/>
        </p:nvSpPr>
        <p:spPr>
          <a:xfrm>
            <a:off x="8321040" y="2441448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funds leave a donor’s account, nothing records the payment against a purpose.</a:t>
            </a:r>
            <a:endParaRPr lang="en-US" sz="1050" dirty="0"/>
          </a:p>
        </p:txBody>
      </p:sp>
      <p:sp>
        <p:nvSpPr>
          <p:cNvPr id="21" name="Shape 14"/>
          <p:cNvSpPr/>
          <p:nvPr/>
        </p:nvSpPr>
        <p:spPr>
          <a:xfrm>
            <a:off x="548640" y="370332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3F6FA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713232" y="3867912"/>
            <a:ext cx="566928" cy="566928"/>
          </a:xfrm>
          <a:prstGeom prst="ellipse">
            <a:avLst/>
          </a:prstGeom>
          <a:solidFill>
            <a:srgbClr val="DEEAF6"/>
          </a:solidFill>
          <a:ln w="9525">
            <a:solidFill>
              <a:srgbClr val="D9E2F3"/>
            </a:solidFill>
            <a:prstDash val="solid"/>
          </a:ln>
        </p:spPr>
      </p:sp>
      <p:pic>
        <p:nvPicPr>
          <p:cNvPr id="23" name="Image 5" descr="/home/claude/ngoconnect/icons/receipt_manu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0633" y="4015313"/>
            <a:ext cx="272125" cy="272125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417320" y="3822192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7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/ absent tax receipts</a:t>
            </a:r>
            <a:endParaRPr lang="en-US" sz="1250" dirty="0"/>
          </a:p>
        </p:txBody>
      </p:sp>
      <p:sp>
        <p:nvSpPr>
          <p:cNvPr id="25" name="Text 17"/>
          <p:cNvSpPr/>
          <p:nvPr/>
        </p:nvSpPr>
        <p:spPr>
          <a:xfrm>
            <a:off x="731520" y="4544568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Receipts must be requested by hand; many donors never receive one.</a:t>
            </a:r>
            <a:endParaRPr lang="en-US" sz="1050" dirty="0"/>
          </a:p>
        </p:txBody>
      </p:sp>
      <p:sp>
        <p:nvSpPr>
          <p:cNvPr id="26" name="Shape 18"/>
          <p:cNvSpPr/>
          <p:nvPr/>
        </p:nvSpPr>
        <p:spPr>
          <a:xfrm>
            <a:off x="4343400" y="370332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3F6FA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4507992" y="3867912"/>
            <a:ext cx="566928" cy="566928"/>
          </a:xfrm>
          <a:prstGeom prst="ellipse">
            <a:avLst/>
          </a:prstGeom>
          <a:solidFill>
            <a:srgbClr val="DEEAF6"/>
          </a:solidFill>
          <a:ln w="9525">
            <a:solidFill>
              <a:srgbClr val="D9E2F3"/>
            </a:solidFill>
            <a:prstDash val="solid"/>
          </a:ln>
        </p:spPr>
      </p:sp>
      <p:pic>
        <p:nvPicPr>
          <p:cNvPr id="28" name="Image 6" descr="/home/claude/ngoconnect/icons/legitimac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55393" y="4015313"/>
            <a:ext cx="272125" cy="272125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212080" y="3822192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7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friction on every donation</a:t>
            </a:r>
            <a:endParaRPr lang="en-US" sz="1250" dirty="0"/>
          </a:p>
        </p:txBody>
      </p:sp>
      <p:sp>
        <p:nvSpPr>
          <p:cNvPr id="30" name="Text 21"/>
          <p:cNvSpPr/>
          <p:nvPr/>
        </p:nvSpPr>
        <p:spPr>
          <a:xfrm>
            <a:off x="4526280" y="4544568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/ UPI details re-entered each time, suppressing repeat giving.</a:t>
            </a:r>
            <a:endParaRPr lang="en-US" sz="1050" dirty="0"/>
          </a:p>
        </p:txBody>
      </p:sp>
      <p:sp>
        <p:nvSpPr>
          <p:cNvPr id="31" name="Shape 22"/>
          <p:cNvSpPr/>
          <p:nvPr/>
        </p:nvSpPr>
        <p:spPr>
          <a:xfrm>
            <a:off x="8138160" y="370332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3F6FA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32" name="Shape 23"/>
          <p:cNvSpPr/>
          <p:nvPr/>
        </p:nvSpPr>
        <p:spPr>
          <a:xfrm>
            <a:off x="8302752" y="3867912"/>
            <a:ext cx="566928" cy="566928"/>
          </a:xfrm>
          <a:prstGeom prst="ellipse">
            <a:avLst/>
          </a:prstGeom>
          <a:solidFill>
            <a:srgbClr val="DEEAF6"/>
          </a:solidFill>
          <a:ln w="9525">
            <a:solidFill>
              <a:srgbClr val="D9E2F3"/>
            </a:solidFill>
            <a:prstDash val="solid"/>
          </a:ln>
        </p:spPr>
      </p:sp>
      <p:pic>
        <p:nvPicPr>
          <p:cNvPr id="33" name="Image 7" descr="/home/claude/ngoconnect/icons/disconnec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50153" y="4015313"/>
            <a:ext cx="272125" cy="272125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9006840" y="3822192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7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Volunteering disconnected from giving</a:t>
            </a:r>
            <a:endParaRPr lang="en-US" sz="1250" dirty="0"/>
          </a:p>
        </p:txBody>
      </p:sp>
      <p:sp>
        <p:nvSpPr>
          <p:cNvPr id="35" name="Text 25"/>
          <p:cNvSpPr/>
          <p:nvPr/>
        </p:nvSpPr>
        <p:spPr>
          <a:xfrm>
            <a:off x="8321040" y="4544568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channel for NGOs to publish goods or volunteer needs.</a:t>
            </a:r>
            <a:endParaRPr lang="en-US" sz="1050" dirty="0"/>
          </a:p>
        </p:txBody>
      </p:sp>
      <p:sp>
        <p:nvSpPr>
          <p:cNvPr id="36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NGOConnect  |  Sardar Vallabhbhai Global University</a:t>
            </a:r>
            <a:endParaRPr lang="en-US" sz="900" dirty="0"/>
          </a:p>
        </p:txBody>
      </p:sp>
      <p:sp>
        <p:nvSpPr>
          <p:cNvPr id="37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ngoconnect/icons/plus_deco.png"/>
          <p:cNvPicPr>
            <a:picLocks noChangeAspect="1"/>
          </p:cNvPicPr>
          <p:nvPr/>
        </p:nvPicPr>
        <p:blipFill>
          <a:blip r:embed="rId3">
            <a:alphaModFix amt="55000"/>
          </a:blip>
          <a:stretch>
            <a:fillRect/>
          </a:stretch>
        </p:blipFill>
        <p:spPr>
          <a:xfrm>
            <a:off x="11688775" y="228600"/>
            <a:ext cx="256032" cy="256032"/>
          </a:xfrm>
          <a:prstGeom prst="rect">
            <a:avLst/>
          </a:prstGeom>
        </p:spPr>
      </p:pic>
      <p:pic>
        <p:nvPicPr>
          <p:cNvPr id="3" name="Image 1" descr="/home/claude/ngoconnect/icons/plus_deco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228600" y="6355080"/>
            <a:ext cx="219456" cy="21945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7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NGOConnect Solves It</a:t>
            </a:r>
            <a:endParaRPr lang="en-US" sz="3200" dirty="0"/>
          </a:p>
        </p:txBody>
      </p:sp>
      <p:sp>
        <p:nvSpPr>
          <p:cNvPr id="6" name="Text 2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organisation is verified and approved before it becomes visible; every donation is traceable and receipted automatically.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548640" y="2331720"/>
            <a:ext cx="1965960" cy="1554480"/>
          </a:xfrm>
          <a:prstGeom prst="roundRect">
            <a:avLst>
              <a:gd name="adj" fmla="val 5882"/>
            </a:avLst>
          </a:prstGeom>
          <a:solidFill>
            <a:srgbClr val="F3F6FA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1165860" y="2496312"/>
            <a:ext cx="731520" cy="731520"/>
          </a:xfrm>
          <a:prstGeom prst="ellipse">
            <a:avLst/>
          </a:prstGeom>
          <a:solidFill>
            <a:srgbClr val="EAF0F9"/>
          </a:solidFill>
          <a:ln w="9525">
            <a:solidFill>
              <a:srgbClr val="D9E2F3"/>
            </a:solidFill>
            <a:prstDash val="solid"/>
          </a:ln>
        </p:spPr>
      </p:sp>
      <p:pic>
        <p:nvPicPr>
          <p:cNvPr id="9" name="Image 2" descr="/home/claude/ngoconnect/icons/registr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6055" y="2686507"/>
            <a:ext cx="351130" cy="35113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1792" y="3264408"/>
            <a:ext cx="18196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Registration</a:t>
            </a:r>
            <a:endParaRPr lang="en-US" sz="1150" dirty="0"/>
          </a:p>
        </p:txBody>
      </p:sp>
      <p:pic>
        <p:nvPicPr>
          <p:cNvPr id="11" name="Image 3" descr="/home/claude/ngoconnect/icons/arrow_righ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22601" y="2962656"/>
            <a:ext cx="292608" cy="292608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2823210" y="2331720"/>
            <a:ext cx="1965960" cy="1554480"/>
          </a:xfrm>
          <a:prstGeom prst="roundRect">
            <a:avLst>
              <a:gd name="adj" fmla="val 5882"/>
            </a:avLst>
          </a:prstGeom>
          <a:solidFill>
            <a:srgbClr val="F3F6FA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13" name="Shape 7"/>
          <p:cNvSpPr/>
          <p:nvPr/>
        </p:nvSpPr>
        <p:spPr>
          <a:xfrm>
            <a:off x="3440430" y="2496312"/>
            <a:ext cx="731520" cy="731520"/>
          </a:xfrm>
          <a:prstGeom prst="ellipse">
            <a:avLst/>
          </a:prstGeom>
          <a:solidFill>
            <a:srgbClr val="EAF0F9"/>
          </a:solidFill>
          <a:ln w="9525">
            <a:solidFill>
              <a:srgbClr val="D9E2F3"/>
            </a:solidFill>
            <a:prstDash val="solid"/>
          </a:ln>
        </p:spPr>
      </p:sp>
      <p:pic>
        <p:nvPicPr>
          <p:cNvPr id="14" name="Image 4" descr="/home/claude/ngoconnect/icons/verification_do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0625" y="2686507"/>
            <a:ext cx="351130" cy="35113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2896362" y="3264408"/>
            <a:ext cx="18196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Verification</a:t>
            </a:r>
            <a:endParaRPr lang="en-US" sz="1150" dirty="0"/>
          </a:p>
        </p:txBody>
      </p:sp>
      <p:pic>
        <p:nvPicPr>
          <p:cNvPr id="16" name="Image 5" descr="/home/claude/ngoconnect/icons/arrow_righ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7171" y="2962656"/>
            <a:ext cx="292608" cy="292608"/>
          </a:xfrm>
          <a:prstGeom prst="rect">
            <a:avLst/>
          </a:prstGeom>
        </p:spPr>
      </p:pic>
      <p:sp>
        <p:nvSpPr>
          <p:cNvPr id="17" name="Shape 9"/>
          <p:cNvSpPr/>
          <p:nvPr/>
        </p:nvSpPr>
        <p:spPr>
          <a:xfrm>
            <a:off x="5097780" y="2331720"/>
            <a:ext cx="1965960" cy="1554480"/>
          </a:xfrm>
          <a:prstGeom prst="roundRect">
            <a:avLst>
              <a:gd name="adj" fmla="val 5882"/>
            </a:avLst>
          </a:prstGeom>
          <a:solidFill>
            <a:srgbClr val="F3F6FA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18" name="Shape 10"/>
          <p:cNvSpPr/>
          <p:nvPr/>
        </p:nvSpPr>
        <p:spPr>
          <a:xfrm>
            <a:off x="5715000" y="2496312"/>
            <a:ext cx="731520" cy="731520"/>
          </a:xfrm>
          <a:prstGeom prst="ellipse">
            <a:avLst/>
          </a:prstGeom>
          <a:solidFill>
            <a:srgbClr val="EAF0F9"/>
          </a:solidFill>
          <a:ln w="9525">
            <a:solidFill>
              <a:srgbClr val="D9E2F3"/>
            </a:solidFill>
            <a:prstDash val="solid"/>
          </a:ln>
        </p:spPr>
      </p:sp>
      <p:pic>
        <p:nvPicPr>
          <p:cNvPr id="19" name="Image 6" descr="/home/claude/ngoconnect/icons/approv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05195" y="2686507"/>
            <a:ext cx="351130" cy="35113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5170932" y="3264408"/>
            <a:ext cx="18196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Approval</a:t>
            </a:r>
            <a:endParaRPr lang="en-US" sz="1150" dirty="0"/>
          </a:p>
        </p:txBody>
      </p:sp>
      <p:pic>
        <p:nvPicPr>
          <p:cNvPr id="21" name="Image 7" descr="/home/claude/ngoconnect/icons/arrow_righ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1741" y="2962656"/>
            <a:ext cx="292608" cy="292608"/>
          </a:xfrm>
          <a:prstGeom prst="rect">
            <a:avLst/>
          </a:prstGeom>
        </p:spPr>
      </p:pic>
      <p:sp>
        <p:nvSpPr>
          <p:cNvPr id="22" name="Shape 12"/>
          <p:cNvSpPr/>
          <p:nvPr/>
        </p:nvSpPr>
        <p:spPr>
          <a:xfrm>
            <a:off x="7372350" y="2331720"/>
            <a:ext cx="1965960" cy="1554480"/>
          </a:xfrm>
          <a:prstGeom prst="roundRect">
            <a:avLst>
              <a:gd name="adj" fmla="val 5882"/>
            </a:avLst>
          </a:prstGeom>
          <a:solidFill>
            <a:srgbClr val="F3F6FA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23" name="Shape 13"/>
          <p:cNvSpPr/>
          <p:nvPr/>
        </p:nvSpPr>
        <p:spPr>
          <a:xfrm>
            <a:off x="7989570" y="2496312"/>
            <a:ext cx="731520" cy="731520"/>
          </a:xfrm>
          <a:prstGeom prst="ellipse">
            <a:avLst/>
          </a:prstGeom>
          <a:solidFill>
            <a:srgbClr val="EAF0F9"/>
          </a:solidFill>
          <a:ln w="9525">
            <a:solidFill>
              <a:srgbClr val="D9E2F3"/>
            </a:solidFill>
            <a:prstDash val="solid"/>
          </a:ln>
        </p:spPr>
      </p:sp>
      <p:pic>
        <p:nvPicPr>
          <p:cNvPr id="24" name="Image 8" descr="/home/claude/ngoconnect/icons/listin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79765" y="2686507"/>
            <a:ext cx="351130" cy="351130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7445502" y="3264408"/>
            <a:ext cx="18196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NGO Listing</a:t>
            </a:r>
            <a:endParaRPr lang="en-US" sz="1150" dirty="0"/>
          </a:p>
        </p:txBody>
      </p:sp>
      <p:pic>
        <p:nvPicPr>
          <p:cNvPr id="26" name="Image 9" descr="/home/claude/ngoconnect/icons/arrow_righ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46311" y="2962656"/>
            <a:ext cx="292608" cy="292608"/>
          </a:xfrm>
          <a:prstGeom prst="rect">
            <a:avLst/>
          </a:prstGeom>
        </p:spPr>
      </p:pic>
      <p:sp>
        <p:nvSpPr>
          <p:cNvPr id="27" name="Shape 15"/>
          <p:cNvSpPr/>
          <p:nvPr/>
        </p:nvSpPr>
        <p:spPr>
          <a:xfrm>
            <a:off x="9646920" y="2331720"/>
            <a:ext cx="1965960" cy="1554480"/>
          </a:xfrm>
          <a:prstGeom prst="roundRect">
            <a:avLst>
              <a:gd name="adj" fmla="val 5882"/>
            </a:avLst>
          </a:prstGeom>
          <a:solidFill>
            <a:srgbClr val="1F6F63"/>
          </a:solidFill>
          <a:ln w="12700">
            <a:solidFill>
              <a:srgbClr val="1F6F63"/>
            </a:solidFill>
            <a:prstDash val="solid"/>
          </a:ln>
        </p:spPr>
      </p:sp>
      <p:sp>
        <p:nvSpPr>
          <p:cNvPr id="28" name="Shape 16"/>
          <p:cNvSpPr/>
          <p:nvPr/>
        </p:nvSpPr>
        <p:spPr>
          <a:xfrm>
            <a:off x="10264140" y="2496312"/>
            <a:ext cx="731520" cy="7315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9E2F3"/>
            </a:solidFill>
            <a:prstDash val="solid"/>
          </a:ln>
        </p:spPr>
      </p:sp>
      <p:pic>
        <p:nvPicPr>
          <p:cNvPr id="29" name="Image 10" descr="/home/claude/ngoconnect/icons/engagemen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54335" y="2686507"/>
            <a:ext cx="351130" cy="351130"/>
          </a:xfrm>
          <a:prstGeom prst="rect">
            <a:avLst/>
          </a:prstGeom>
        </p:spPr>
      </p:pic>
      <p:sp>
        <p:nvSpPr>
          <p:cNvPr id="30" name="Text 17"/>
          <p:cNvSpPr/>
          <p:nvPr/>
        </p:nvSpPr>
        <p:spPr>
          <a:xfrm>
            <a:off x="9720072" y="3264408"/>
            <a:ext cx="18196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Donation / Volunteer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1150" dirty="0"/>
          </a:p>
        </p:txBody>
      </p:sp>
      <p:sp>
        <p:nvSpPr>
          <p:cNvPr id="31" name="Text 18"/>
          <p:cNvSpPr/>
          <p:nvPr/>
        </p:nvSpPr>
        <p:spPr>
          <a:xfrm>
            <a:off x="548640" y="44805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trust decision is made once by an administrator with the documents in front of them — not repeatedly by every individual donor.</a:t>
            </a:r>
            <a:endParaRPr lang="en-US" sz="1200" dirty="0"/>
          </a:p>
        </p:txBody>
      </p:sp>
      <p:sp>
        <p:nvSpPr>
          <p:cNvPr id="32" name="Shape 19"/>
          <p:cNvSpPr/>
          <p:nvPr/>
        </p:nvSpPr>
        <p:spPr>
          <a:xfrm>
            <a:off x="822960" y="5257800"/>
            <a:ext cx="3520440" cy="1005840"/>
          </a:xfrm>
          <a:prstGeom prst="roundRect">
            <a:avLst>
              <a:gd name="adj" fmla="val 7273"/>
            </a:avLst>
          </a:prstGeom>
          <a:solidFill>
            <a:srgbClr val="EAF0F9"/>
          </a:solidFill>
          <a:ln w="9525">
            <a:solidFill>
              <a:srgbClr val="D9E2F3"/>
            </a:solidFill>
            <a:prstDash val="solid"/>
          </a:ln>
        </p:spPr>
      </p:sp>
      <p:pic>
        <p:nvPicPr>
          <p:cNvPr id="33" name="Image 11" descr="/home/claude/ngoconnect/icons/paymen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5840" y="5532120"/>
            <a:ext cx="457200" cy="457200"/>
          </a:xfrm>
          <a:prstGeom prst="rect">
            <a:avLst/>
          </a:prstGeom>
        </p:spPr>
      </p:pic>
      <p:sp>
        <p:nvSpPr>
          <p:cNvPr id="34" name="Text 20"/>
          <p:cNvSpPr/>
          <p:nvPr/>
        </p:nvSpPr>
        <p:spPr>
          <a:xfrm>
            <a:off x="1600200" y="525780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or Wallet donations</a:t>
            </a:r>
            <a:endParaRPr lang="en-US" sz="1200" dirty="0"/>
          </a:p>
        </p:txBody>
      </p:sp>
      <p:sp>
        <p:nvSpPr>
          <p:cNvPr id="35" name="Shape 21"/>
          <p:cNvSpPr/>
          <p:nvPr/>
        </p:nvSpPr>
        <p:spPr>
          <a:xfrm>
            <a:off x="4617720" y="5257800"/>
            <a:ext cx="3520440" cy="1005840"/>
          </a:xfrm>
          <a:prstGeom prst="roundRect">
            <a:avLst>
              <a:gd name="adj" fmla="val 7273"/>
            </a:avLst>
          </a:prstGeom>
          <a:solidFill>
            <a:srgbClr val="EAF0F9"/>
          </a:solidFill>
          <a:ln w="9525">
            <a:solidFill>
              <a:srgbClr val="D9E2F3"/>
            </a:solidFill>
            <a:prstDash val="solid"/>
          </a:ln>
        </p:spPr>
      </p:sp>
      <p:pic>
        <p:nvPicPr>
          <p:cNvPr id="36" name="Image 12" descr="/home/claude/ngoconnect/icons/append_ledger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00600" y="5532120"/>
            <a:ext cx="457200" cy="457200"/>
          </a:xfrm>
          <a:prstGeom prst="rect">
            <a:avLst/>
          </a:prstGeom>
        </p:spPr>
      </p:pic>
      <p:sp>
        <p:nvSpPr>
          <p:cNvPr id="37" name="Text 22"/>
          <p:cNvSpPr/>
          <p:nvPr/>
        </p:nvSpPr>
        <p:spPr>
          <a:xfrm>
            <a:off x="5394960" y="525780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financial ledger</a:t>
            </a:r>
            <a:endParaRPr lang="en-US" sz="1200" dirty="0"/>
          </a:p>
        </p:txBody>
      </p:sp>
      <p:sp>
        <p:nvSpPr>
          <p:cNvPr id="38" name="Shape 23"/>
          <p:cNvSpPr/>
          <p:nvPr/>
        </p:nvSpPr>
        <p:spPr>
          <a:xfrm>
            <a:off x="8412480" y="5257800"/>
            <a:ext cx="3520440" cy="1005840"/>
          </a:xfrm>
          <a:prstGeom prst="roundRect">
            <a:avLst>
              <a:gd name="adj" fmla="val 7273"/>
            </a:avLst>
          </a:prstGeom>
          <a:solidFill>
            <a:srgbClr val="EAF0F9"/>
          </a:solidFill>
          <a:ln w="9525">
            <a:solidFill>
              <a:srgbClr val="D9E2F3"/>
            </a:solidFill>
            <a:prstDash val="solid"/>
          </a:ln>
        </p:spPr>
      </p:sp>
      <p:pic>
        <p:nvPicPr>
          <p:cNvPr id="39" name="Image 13" descr="/home/claude/ngoconnect/icons/receipt_aut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0" y="5532120"/>
            <a:ext cx="457200" cy="457200"/>
          </a:xfrm>
          <a:prstGeom prst="rect">
            <a:avLst/>
          </a:prstGeom>
        </p:spPr>
      </p:pic>
      <p:sp>
        <p:nvSpPr>
          <p:cNvPr id="40" name="Text 24"/>
          <p:cNvSpPr/>
          <p:nvPr/>
        </p:nvSpPr>
        <p:spPr>
          <a:xfrm>
            <a:off x="9189720" y="525780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80G tax receipt</a:t>
            </a:r>
            <a:endParaRPr lang="en-US" sz="1200" dirty="0"/>
          </a:p>
        </p:txBody>
      </p:sp>
      <p:sp>
        <p:nvSpPr>
          <p:cNvPr id="41" name="Text 2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NGOConnect  |  Sardar Vallabhbhai Global University</a:t>
            </a:r>
            <a:endParaRPr lang="en-US" sz="900" dirty="0"/>
          </a:p>
        </p:txBody>
      </p:sp>
      <p:sp>
        <p:nvSpPr>
          <p:cNvPr id="42" name="Text 2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ngoconnect/icons/plus_deco.png"/>
          <p:cNvPicPr>
            <a:picLocks noChangeAspect="1"/>
          </p:cNvPicPr>
          <p:nvPr/>
        </p:nvPicPr>
        <p:blipFill>
          <a:blip r:embed="rId3">
            <a:alphaModFix amt="55000"/>
          </a:blip>
          <a:stretch>
            <a:fillRect/>
          </a:stretch>
        </p:blipFill>
        <p:spPr>
          <a:xfrm>
            <a:off x="11688775" y="228600"/>
            <a:ext cx="256032" cy="256032"/>
          </a:xfrm>
          <a:prstGeom prst="rect">
            <a:avLst/>
          </a:prstGeom>
        </p:spPr>
      </p:pic>
      <p:pic>
        <p:nvPicPr>
          <p:cNvPr id="3" name="Image 1" descr="/home/claude/ngoconnect/icons/plus_deco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228600" y="6355080"/>
            <a:ext cx="219456" cy="21945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7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&amp; Key Features</a:t>
            </a:r>
            <a:endParaRPr lang="en-US" sz="3200" dirty="0"/>
          </a:p>
        </p:txBody>
      </p:sp>
      <p:sp>
        <p:nvSpPr>
          <p:cNvPr id="6" name="Shape 2"/>
          <p:cNvSpPr/>
          <p:nvPr/>
        </p:nvSpPr>
        <p:spPr>
          <a:xfrm>
            <a:off x="548640" y="155448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3F6FA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713232" y="1943100"/>
            <a:ext cx="640080" cy="640080"/>
          </a:xfrm>
          <a:prstGeom prst="ellipse">
            <a:avLst/>
          </a:prstGeom>
          <a:solidFill>
            <a:srgbClr val="EAF0F9"/>
          </a:solidFill>
          <a:ln w="9525">
            <a:solidFill>
              <a:srgbClr val="D9E2F3"/>
            </a:solidFill>
            <a:prstDash val="solid"/>
          </a:ln>
        </p:spPr>
      </p:sp>
      <p:pic>
        <p:nvPicPr>
          <p:cNvPr id="8" name="Image 2" descr="/home/claude/ngoconnect/icons/onboard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653" y="2109521"/>
            <a:ext cx="307238" cy="30723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508760" y="1554480"/>
            <a:ext cx="2514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NGO onboarding</a:t>
            </a:r>
            <a:endParaRPr lang="en-US" sz="1300" dirty="0"/>
          </a:p>
        </p:txBody>
      </p:sp>
      <p:sp>
        <p:nvSpPr>
          <p:cNvPr id="10" name="Shape 5"/>
          <p:cNvSpPr/>
          <p:nvPr/>
        </p:nvSpPr>
        <p:spPr>
          <a:xfrm>
            <a:off x="4343400" y="155448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3F6FA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4507992" y="1943100"/>
            <a:ext cx="640080" cy="640080"/>
          </a:xfrm>
          <a:prstGeom prst="ellipse">
            <a:avLst/>
          </a:prstGeom>
          <a:solidFill>
            <a:srgbClr val="EAF0F9"/>
          </a:solidFill>
          <a:ln w="9525">
            <a:solidFill>
              <a:srgbClr val="D9E2F3"/>
            </a:solidFill>
            <a:prstDash val="solid"/>
          </a:ln>
        </p:spPr>
      </p:sp>
      <p:pic>
        <p:nvPicPr>
          <p:cNvPr id="12" name="Image 3" descr="/home/claude/ngoconnect/icons/verification_do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4413" y="2109521"/>
            <a:ext cx="307238" cy="30723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303520" y="1554480"/>
            <a:ext cx="2514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verification</a:t>
            </a:r>
            <a:endParaRPr lang="en-US" sz="1300" dirty="0"/>
          </a:p>
        </p:txBody>
      </p:sp>
      <p:sp>
        <p:nvSpPr>
          <p:cNvPr id="14" name="Shape 8"/>
          <p:cNvSpPr/>
          <p:nvPr/>
        </p:nvSpPr>
        <p:spPr>
          <a:xfrm>
            <a:off x="8138160" y="155448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3F6FA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8302752" y="1943100"/>
            <a:ext cx="640080" cy="640080"/>
          </a:xfrm>
          <a:prstGeom prst="ellipse">
            <a:avLst/>
          </a:prstGeom>
          <a:solidFill>
            <a:srgbClr val="EAF0F9"/>
          </a:solidFill>
          <a:ln w="9525">
            <a:solidFill>
              <a:srgbClr val="D9E2F3"/>
            </a:solidFill>
            <a:prstDash val="solid"/>
          </a:ln>
        </p:spPr>
      </p:sp>
      <p:pic>
        <p:nvPicPr>
          <p:cNvPr id="16" name="Image 4" descr="/home/claude/ngoconnect/icons/payme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9173" y="2109521"/>
            <a:ext cx="307238" cy="30723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098280" y="1554480"/>
            <a:ext cx="2514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donation processing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548640" y="3172968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3F6FA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19" name="Shape 12"/>
          <p:cNvSpPr/>
          <p:nvPr/>
        </p:nvSpPr>
        <p:spPr>
          <a:xfrm>
            <a:off x="713232" y="3561588"/>
            <a:ext cx="640080" cy="640080"/>
          </a:xfrm>
          <a:prstGeom prst="ellipse">
            <a:avLst/>
          </a:prstGeom>
          <a:solidFill>
            <a:srgbClr val="EAF0F9"/>
          </a:solidFill>
          <a:ln w="9525">
            <a:solidFill>
              <a:srgbClr val="D9E2F3"/>
            </a:solidFill>
            <a:prstDash val="solid"/>
          </a:ln>
        </p:spPr>
      </p:sp>
      <p:pic>
        <p:nvPicPr>
          <p:cNvPr id="20" name="Image 5" descr="/home/claude/ngoconnect/icons/wall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9653" y="3728009"/>
            <a:ext cx="307238" cy="30723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508760" y="3172968"/>
            <a:ext cx="2514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wallet</a:t>
            </a:r>
            <a:endParaRPr lang="en-US" sz="1300" dirty="0"/>
          </a:p>
        </p:txBody>
      </p:sp>
      <p:sp>
        <p:nvSpPr>
          <p:cNvPr id="22" name="Shape 14"/>
          <p:cNvSpPr/>
          <p:nvPr/>
        </p:nvSpPr>
        <p:spPr>
          <a:xfrm>
            <a:off x="4343400" y="3172968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3F6FA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23" name="Shape 15"/>
          <p:cNvSpPr/>
          <p:nvPr/>
        </p:nvSpPr>
        <p:spPr>
          <a:xfrm>
            <a:off x="4507992" y="3561588"/>
            <a:ext cx="640080" cy="640080"/>
          </a:xfrm>
          <a:prstGeom prst="ellipse">
            <a:avLst/>
          </a:prstGeom>
          <a:solidFill>
            <a:srgbClr val="EAF0F9"/>
          </a:solidFill>
          <a:ln w="9525">
            <a:solidFill>
              <a:srgbClr val="D9E2F3"/>
            </a:solidFill>
            <a:prstDash val="solid"/>
          </a:ln>
        </p:spPr>
      </p:sp>
      <p:pic>
        <p:nvPicPr>
          <p:cNvPr id="24" name="Image 6" descr="/home/claude/ngoconnect/icons/receipt_aut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4413" y="3728009"/>
            <a:ext cx="307238" cy="30723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303520" y="3172968"/>
            <a:ext cx="2514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80G receipt</a:t>
            </a:r>
            <a:endParaRPr lang="en-US" sz="1300" dirty="0"/>
          </a:p>
        </p:txBody>
      </p:sp>
      <p:sp>
        <p:nvSpPr>
          <p:cNvPr id="26" name="Shape 17"/>
          <p:cNvSpPr/>
          <p:nvPr/>
        </p:nvSpPr>
        <p:spPr>
          <a:xfrm>
            <a:off x="8138160" y="3172968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3F6FA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27" name="Shape 18"/>
          <p:cNvSpPr/>
          <p:nvPr/>
        </p:nvSpPr>
        <p:spPr>
          <a:xfrm>
            <a:off x="8302752" y="3561588"/>
            <a:ext cx="640080" cy="640080"/>
          </a:xfrm>
          <a:prstGeom prst="ellipse">
            <a:avLst/>
          </a:prstGeom>
          <a:solidFill>
            <a:srgbClr val="EAF0F9"/>
          </a:solidFill>
          <a:ln w="9525">
            <a:solidFill>
              <a:srgbClr val="D9E2F3"/>
            </a:solidFill>
            <a:prstDash val="solid"/>
          </a:ln>
        </p:spPr>
      </p:sp>
      <p:pic>
        <p:nvPicPr>
          <p:cNvPr id="28" name="Image 7" descr="/home/claude/ngoconnect/icons/ledg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9173" y="3728009"/>
            <a:ext cx="307238" cy="307238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9098280" y="3172968"/>
            <a:ext cx="2514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finance &amp; ledger</a:t>
            </a:r>
            <a:endParaRPr lang="en-US" sz="1300" dirty="0"/>
          </a:p>
        </p:txBody>
      </p:sp>
      <p:sp>
        <p:nvSpPr>
          <p:cNvPr id="30" name="Shape 20"/>
          <p:cNvSpPr/>
          <p:nvPr/>
        </p:nvSpPr>
        <p:spPr>
          <a:xfrm>
            <a:off x="548640" y="4791456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3F6FA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31" name="Shape 21"/>
          <p:cNvSpPr/>
          <p:nvPr/>
        </p:nvSpPr>
        <p:spPr>
          <a:xfrm>
            <a:off x="713232" y="5180076"/>
            <a:ext cx="640080" cy="640080"/>
          </a:xfrm>
          <a:prstGeom prst="ellipse">
            <a:avLst/>
          </a:prstGeom>
          <a:solidFill>
            <a:srgbClr val="EAF0F9"/>
          </a:solidFill>
          <a:ln w="9525">
            <a:solidFill>
              <a:srgbClr val="D9E2F3"/>
            </a:solidFill>
            <a:prstDash val="solid"/>
          </a:ln>
        </p:spPr>
      </p:sp>
      <p:pic>
        <p:nvPicPr>
          <p:cNvPr id="32" name="Image 8" descr="/home/claude/ngoconnect/icons/event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9653" y="5346497"/>
            <a:ext cx="307238" cy="307238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1508760" y="4791456"/>
            <a:ext cx="2514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 events</a:t>
            </a:r>
            <a:endParaRPr lang="en-US" sz="1300" dirty="0"/>
          </a:p>
        </p:txBody>
      </p:sp>
      <p:sp>
        <p:nvSpPr>
          <p:cNvPr id="34" name="Shape 23"/>
          <p:cNvSpPr/>
          <p:nvPr/>
        </p:nvSpPr>
        <p:spPr>
          <a:xfrm>
            <a:off x="4343400" y="4791456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3F6FA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35" name="Shape 24"/>
          <p:cNvSpPr/>
          <p:nvPr/>
        </p:nvSpPr>
        <p:spPr>
          <a:xfrm>
            <a:off x="4507992" y="5180076"/>
            <a:ext cx="640080" cy="640080"/>
          </a:xfrm>
          <a:prstGeom prst="ellipse">
            <a:avLst/>
          </a:prstGeom>
          <a:solidFill>
            <a:srgbClr val="EAF0F9"/>
          </a:solidFill>
          <a:ln w="9525">
            <a:solidFill>
              <a:srgbClr val="D9E2F3"/>
            </a:solidFill>
            <a:prstDash val="solid"/>
          </a:ln>
        </p:spPr>
      </p:sp>
      <p:pic>
        <p:nvPicPr>
          <p:cNvPr id="36" name="Image 9" descr="/home/claude/ngoconnect/icons/cha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74413" y="5346497"/>
            <a:ext cx="307238" cy="307238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5303520" y="4791456"/>
            <a:ext cx="2514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donor–NGO communication</a:t>
            </a:r>
            <a:endParaRPr lang="en-US" sz="1300" dirty="0"/>
          </a:p>
        </p:txBody>
      </p:sp>
      <p:sp>
        <p:nvSpPr>
          <p:cNvPr id="38" name="Shape 26"/>
          <p:cNvSpPr/>
          <p:nvPr/>
        </p:nvSpPr>
        <p:spPr>
          <a:xfrm>
            <a:off x="8138160" y="4791456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3F6FA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39" name="Shape 27"/>
          <p:cNvSpPr/>
          <p:nvPr/>
        </p:nvSpPr>
        <p:spPr>
          <a:xfrm>
            <a:off x="8302752" y="5180076"/>
            <a:ext cx="640080" cy="640080"/>
          </a:xfrm>
          <a:prstGeom prst="ellipse">
            <a:avLst/>
          </a:prstGeom>
          <a:solidFill>
            <a:srgbClr val="EAF0F9"/>
          </a:solidFill>
          <a:ln w="9525">
            <a:solidFill>
              <a:srgbClr val="D9E2F3"/>
            </a:solidFill>
            <a:prstDash val="solid"/>
          </a:ln>
        </p:spPr>
      </p:sp>
      <p:pic>
        <p:nvPicPr>
          <p:cNvPr id="40" name="Image 10" descr="/home/claude/ngoconnect/icons/admi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69173" y="5346497"/>
            <a:ext cx="307238" cy="307238"/>
          </a:xfrm>
          <a:prstGeom prst="rect">
            <a:avLst/>
          </a:prstGeom>
        </p:spPr>
      </p:pic>
      <p:sp>
        <p:nvSpPr>
          <p:cNvPr id="41" name="Text 28"/>
          <p:cNvSpPr/>
          <p:nvPr/>
        </p:nvSpPr>
        <p:spPr>
          <a:xfrm>
            <a:off x="9098280" y="4791456"/>
            <a:ext cx="2514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management</a:t>
            </a:r>
            <a:endParaRPr lang="en-US" sz="1300" dirty="0"/>
          </a:p>
        </p:txBody>
      </p:sp>
      <p:sp>
        <p:nvSpPr>
          <p:cNvPr id="42" name="Text 2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NGOConnect  |  Sardar Vallabhbhai Global University</a:t>
            </a:r>
            <a:endParaRPr lang="en-US" sz="900" dirty="0"/>
          </a:p>
        </p:txBody>
      </p:sp>
      <p:sp>
        <p:nvSpPr>
          <p:cNvPr id="43" name="Text 3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ngoconnect/icons/plus_deco.png"/>
          <p:cNvPicPr>
            <a:picLocks noChangeAspect="1"/>
          </p:cNvPicPr>
          <p:nvPr/>
        </p:nvPicPr>
        <p:blipFill>
          <a:blip r:embed="rId3">
            <a:alphaModFix amt="55000"/>
          </a:blip>
          <a:stretch>
            <a:fillRect/>
          </a:stretch>
        </p:blipFill>
        <p:spPr>
          <a:xfrm>
            <a:off x="11688775" y="228600"/>
            <a:ext cx="256032" cy="256032"/>
          </a:xfrm>
          <a:prstGeom prst="rect">
            <a:avLst/>
          </a:prstGeom>
        </p:spPr>
      </p:pic>
      <p:pic>
        <p:nvPicPr>
          <p:cNvPr id="3" name="Image 1" descr="/home/claude/ngoconnect/icons/plus_deco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228600" y="6355080"/>
            <a:ext cx="219456" cy="21945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7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USERS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Roles &amp; Functional Modules</a:t>
            </a:r>
            <a:endParaRPr lang="en-US" sz="3200" dirty="0"/>
          </a:p>
        </p:txBody>
      </p:sp>
      <p:sp>
        <p:nvSpPr>
          <p:cNvPr id="6" name="Shape 2"/>
          <p:cNvSpPr/>
          <p:nvPr/>
        </p:nvSpPr>
        <p:spPr>
          <a:xfrm>
            <a:off x="548640" y="1600200"/>
            <a:ext cx="2606040" cy="4160520"/>
          </a:xfrm>
          <a:prstGeom prst="roundRect">
            <a:avLst>
              <a:gd name="adj" fmla="val 3509"/>
            </a:avLst>
          </a:prstGeom>
          <a:solidFill>
            <a:srgbClr val="F3F6FA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1467612" y="1856232"/>
            <a:ext cx="768096" cy="768096"/>
          </a:xfrm>
          <a:prstGeom prst="ellipse">
            <a:avLst/>
          </a:prstGeom>
          <a:solidFill>
            <a:srgbClr val="DEEAF6"/>
          </a:solidFill>
          <a:ln w="9525">
            <a:solidFill>
              <a:srgbClr val="D9E2F3"/>
            </a:solidFill>
            <a:prstDash val="solid"/>
          </a:ln>
        </p:spPr>
      </p:sp>
      <p:pic>
        <p:nvPicPr>
          <p:cNvPr id="8" name="Image 2" descr="/home/claude/ngoconnect/icons/donor_ro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7317" y="2055937"/>
            <a:ext cx="368686" cy="36868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85800" y="2770632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Donor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804672" y="3291840"/>
            <a:ext cx="21488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verified NGOs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Donate via gateway or wallet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80G receipts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with NGOs</a:t>
            </a:r>
            <a:endParaRPr lang="en-US" sz="1150" dirty="0"/>
          </a:p>
        </p:txBody>
      </p:sp>
      <p:sp>
        <p:nvSpPr>
          <p:cNvPr id="11" name="Shape 6"/>
          <p:cNvSpPr/>
          <p:nvPr/>
        </p:nvSpPr>
        <p:spPr>
          <a:xfrm>
            <a:off x="3410712" y="1600200"/>
            <a:ext cx="2606040" cy="4160520"/>
          </a:xfrm>
          <a:prstGeom prst="roundRect">
            <a:avLst>
              <a:gd name="adj" fmla="val 3509"/>
            </a:avLst>
          </a:prstGeom>
          <a:solidFill>
            <a:srgbClr val="F3F6FA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4329684" y="1856232"/>
            <a:ext cx="768096" cy="768096"/>
          </a:xfrm>
          <a:prstGeom prst="ellipse">
            <a:avLst/>
          </a:prstGeom>
          <a:solidFill>
            <a:srgbClr val="DEEAF6"/>
          </a:solidFill>
          <a:ln w="9525">
            <a:solidFill>
              <a:srgbClr val="D9E2F3"/>
            </a:solidFill>
            <a:prstDash val="solid"/>
          </a:ln>
        </p:spPr>
      </p:sp>
      <p:pic>
        <p:nvPicPr>
          <p:cNvPr id="13" name="Image 3" descr="/home/claude/ngoconnect/icons/volunteer_ro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9389" y="2055937"/>
            <a:ext cx="368686" cy="36868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547872" y="2770632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Volunteer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3666744" y="3291840"/>
            <a:ext cx="21488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events &amp; needs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 in events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enrolments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absence alerts</a:t>
            </a:r>
            <a:endParaRPr lang="en-US" sz="1150" dirty="0"/>
          </a:p>
        </p:txBody>
      </p:sp>
      <p:sp>
        <p:nvSpPr>
          <p:cNvPr id="16" name="Shape 10"/>
          <p:cNvSpPr/>
          <p:nvPr/>
        </p:nvSpPr>
        <p:spPr>
          <a:xfrm>
            <a:off x="6272784" y="1600200"/>
            <a:ext cx="2606040" cy="4160520"/>
          </a:xfrm>
          <a:prstGeom prst="roundRect">
            <a:avLst>
              <a:gd name="adj" fmla="val 3509"/>
            </a:avLst>
          </a:prstGeom>
          <a:solidFill>
            <a:srgbClr val="F3F6FA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7191756" y="1856232"/>
            <a:ext cx="768096" cy="768096"/>
          </a:xfrm>
          <a:prstGeom prst="ellipse">
            <a:avLst/>
          </a:prstGeom>
          <a:solidFill>
            <a:srgbClr val="DEEAF6"/>
          </a:solidFill>
          <a:ln w="9525">
            <a:solidFill>
              <a:srgbClr val="D9E2F3"/>
            </a:solidFill>
            <a:prstDash val="solid"/>
          </a:ln>
        </p:spPr>
      </p:sp>
      <p:pic>
        <p:nvPicPr>
          <p:cNvPr id="18" name="Image 4" descr="/home/claude/ngoconnect/icons/ngo_ro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1461" y="2055937"/>
            <a:ext cx="368686" cy="36868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409944" y="2770632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NGO</a:t>
            </a:r>
            <a:endParaRPr lang="en-US" sz="1600" dirty="0"/>
          </a:p>
        </p:txBody>
      </p:sp>
      <p:sp>
        <p:nvSpPr>
          <p:cNvPr id="20" name="Text 13"/>
          <p:cNvSpPr/>
          <p:nvPr/>
        </p:nvSpPr>
        <p:spPr>
          <a:xfrm>
            <a:off x="6528816" y="3291840"/>
            <a:ext cx="21488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with documents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profile &amp; content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balance &amp; ledger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withdrawals</a:t>
            </a:r>
            <a:endParaRPr lang="en-US" sz="1150" dirty="0"/>
          </a:p>
        </p:txBody>
      </p:sp>
      <p:sp>
        <p:nvSpPr>
          <p:cNvPr id="21" name="Shape 14"/>
          <p:cNvSpPr/>
          <p:nvPr/>
        </p:nvSpPr>
        <p:spPr>
          <a:xfrm>
            <a:off x="9134856" y="1600200"/>
            <a:ext cx="2606040" cy="4160520"/>
          </a:xfrm>
          <a:prstGeom prst="roundRect">
            <a:avLst>
              <a:gd name="adj" fmla="val 3509"/>
            </a:avLst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10053828" y="1856232"/>
            <a:ext cx="768096" cy="768096"/>
          </a:xfrm>
          <a:prstGeom prst="ellipse">
            <a:avLst/>
          </a:prstGeom>
          <a:solidFill>
            <a:srgbClr val="FFFFFF"/>
          </a:solidFill>
          <a:ln w="9525">
            <a:solidFill>
              <a:srgbClr val="D9E2F3"/>
            </a:solidFill>
            <a:prstDash val="solid"/>
          </a:ln>
        </p:spPr>
      </p:sp>
      <p:pic>
        <p:nvPicPr>
          <p:cNvPr id="23" name="Image 5" descr="/home/claude/ngoconnect/icons/admin_ro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53533" y="2055937"/>
            <a:ext cx="368686" cy="368686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9272016" y="2770632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</a:t>
            </a:r>
            <a:endParaRPr lang="en-US" sz="1600" dirty="0"/>
          </a:p>
        </p:txBody>
      </p:sp>
      <p:sp>
        <p:nvSpPr>
          <p:cNvPr id="25" name="Text 17"/>
          <p:cNvSpPr/>
          <p:nvPr/>
        </p:nvSpPr>
        <p:spPr>
          <a:xfrm>
            <a:off x="9390888" y="3291840"/>
            <a:ext cx="21488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Approve/reject NGOs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user accounts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Oversee donations &amp; events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withdrawals</a:t>
            </a:r>
            <a:endParaRPr lang="en-US" sz="1150" dirty="0"/>
          </a:p>
        </p:txBody>
      </p:sp>
      <p:sp>
        <p:nvSpPr>
          <p:cNvPr id="26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NGOConnect  |  Sardar Vallabhbhai Global University</a:t>
            </a:r>
            <a:endParaRPr lang="en-US" sz="900" dirty="0"/>
          </a:p>
        </p:txBody>
      </p:sp>
      <p:sp>
        <p:nvSpPr>
          <p:cNvPr id="27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ngoconnect/icons/plus_deco.png"/>
          <p:cNvPicPr>
            <a:picLocks noChangeAspect="1"/>
          </p:cNvPicPr>
          <p:nvPr/>
        </p:nvPicPr>
        <p:blipFill>
          <a:blip r:embed="rId3">
            <a:alphaModFix amt="55000"/>
          </a:blip>
          <a:stretch>
            <a:fillRect/>
          </a:stretch>
        </p:blipFill>
        <p:spPr>
          <a:xfrm>
            <a:off x="11688775" y="228600"/>
            <a:ext cx="256032" cy="256032"/>
          </a:xfrm>
          <a:prstGeom prst="rect">
            <a:avLst/>
          </a:prstGeom>
        </p:spPr>
      </p:pic>
      <p:pic>
        <p:nvPicPr>
          <p:cNvPr id="3" name="Image 1" descr="/home/claude/ngoconnect/icons/plus_deco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228600" y="6355080"/>
            <a:ext cx="219456" cy="21945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7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Workflow</a:t>
            </a:r>
            <a:endParaRPr lang="en-US" sz="3200" dirty="0"/>
          </a:p>
        </p:txBody>
      </p:sp>
      <p:sp>
        <p:nvSpPr>
          <p:cNvPr id="6" name="Text 2"/>
          <p:cNvSpPr/>
          <p:nvPr/>
        </p:nvSpPr>
        <p:spPr>
          <a:xfrm>
            <a:off x="548640" y="1417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Onboarding &amp; Verification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548640" y="1828800"/>
            <a:ext cx="1691640" cy="1234440"/>
          </a:xfrm>
          <a:prstGeom prst="roundRect">
            <a:avLst>
              <a:gd name="adj" fmla="val 5926"/>
            </a:avLst>
          </a:prstGeom>
          <a:solidFill>
            <a:srgbClr val="EAF0F9"/>
          </a:solidFill>
          <a:ln w="9525">
            <a:solidFill>
              <a:srgbClr val="D9E2F3"/>
            </a:solidFill>
            <a:prstDash val="solid"/>
          </a:ln>
        </p:spPr>
      </p:sp>
      <p:pic>
        <p:nvPicPr>
          <p:cNvPr id="8" name="Image 2" descr="/home/claude/ngoconnect/icons/registr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8428" y="1965960"/>
            <a:ext cx="512064" cy="51206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94360" y="2542032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lang="en-US" sz="1000" dirty="0"/>
          </a:p>
        </p:txBody>
      </p:sp>
      <p:pic>
        <p:nvPicPr>
          <p:cNvPr id="10" name="Image 3" descr="/home/claude/ngoconnect/icons/arrow_righ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2848" y="2327148"/>
            <a:ext cx="237744" cy="237744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2423160" y="1828800"/>
            <a:ext cx="1691640" cy="1234440"/>
          </a:xfrm>
          <a:prstGeom prst="roundRect">
            <a:avLst>
              <a:gd name="adj" fmla="val 5926"/>
            </a:avLst>
          </a:prstGeom>
          <a:solidFill>
            <a:srgbClr val="EAF0F9"/>
          </a:solidFill>
          <a:ln w="9525">
            <a:solidFill>
              <a:srgbClr val="D9E2F3"/>
            </a:solidFill>
            <a:prstDash val="solid"/>
          </a:ln>
        </p:spPr>
      </p:sp>
      <p:pic>
        <p:nvPicPr>
          <p:cNvPr id="12" name="Image 4" descr="/home/claude/ngoconnect/icons/verification_do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2948" y="1965960"/>
            <a:ext cx="512064" cy="512064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2468880" y="2542032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Docs</a:t>
            </a:r>
            <a:endParaRPr lang="en-US" sz="1000" dirty="0"/>
          </a:p>
        </p:txBody>
      </p:sp>
      <p:pic>
        <p:nvPicPr>
          <p:cNvPr id="14" name="Image 5" descr="/home/claude/ngoconnect/icons/arrow_righ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7368" y="2327148"/>
            <a:ext cx="237744" cy="237744"/>
          </a:xfrm>
          <a:prstGeom prst="rect">
            <a:avLst/>
          </a:prstGeom>
        </p:spPr>
      </p:pic>
      <p:sp>
        <p:nvSpPr>
          <p:cNvPr id="15" name="Shape 7"/>
          <p:cNvSpPr/>
          <p:nvPr/>
        </p:nvSpPr>
        <p:spPr>
          <a:xfrm>
            <a:off x="4297680" y="1828800"/>
            <a:ext cx="1691640" cy="1234440"/>
          </a:xfrm>
          <a:prstGeom prst="roundRect">
            <a:avLst>
              <a:gd name="adj" fmla="val 5926"/>
            </a:avLst>
          </a:prstGeom>
          <a:solidFill>
            <a:srgbClr val="EAF0F9"/>
          </a:solidFill>
          <a:ln w="9525">
            <a:solidFill>
              <a:srgbClr val="D9E2F3"/>
            </a:solidFill>
            <a:prstDash val="solid"/>
          </a:ln>
        </p:spPr>
      </p:sp>
      <p:pic>
        <p:nvPicPr>
          <p:cNvPr id="16" name="Image 6" descr="/home/claude/ngoconnect/icons/oc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7468" y="1965960"/>
            <a:ext cx="512064" cy="512064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4343400" y="2542032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/ Text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7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000" dirty="0"/>
          </a:p>
        </p:txBody>
      </p:sp>
      <p:pic>
        <p:nvPicPr>
          <p:cNvPr id="18" name="Image 7" descr="/home/claude/ngoconnect/icons/arrow_righ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1888" y="2327148"/>
            <a:ext cx="237744" cy="237744"/>
          </a:xfrm>
          <a:prstGeom prst="rect">
            <a:avLst/>
          </a:prstGeom>
        </p:spPr>
      </p:pic>
      <p:sp>
        <p:nvSpPr>
          <p:cNvPr id="19" name="Shape 9"/>
          <p:cNvSpPr/>
          <p:nvPr/>
        </p:nvSpPr>
        <p:spPr>
          <a:xfrm>
            <a:off x="6172200" y="1828800"/>
            <a:ext cx="1691640" cy="1234440"/>
          </a:xfrm>
          <a:prstGeom prst="roundRect">
            <a:avLst>
              <a:gd name="adj" fmla="val 5926"/>
            </a:avLst>
          </a:prstGeom>
          <a:solidFill>
            <a:srgbClr val="EAF0F9"/>
          </a:solidFill>
          <a:ln w="9525">
            <a:solidFill>
              <a:srgbClr val="D9E2F3"/>
            </a:solidFill>
            <a:prstDash val="solid"/>
          </a:ln>
        </p:spPr>
      </p:sp>
      <p:pic>
        <p:nvPicPr>
          <p:cNvPr id="20" name="Image 8" descr="/home/claude/ngoconnect/icons/approv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1988" y="1965960"/>
            <a:ext cx="512064" cy="512064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6217920" y="2542032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000" dirty="0"/>
          </a:p>
        </p:txBody>
      </p:sp>
      <p:pic>
        <p:nvPicPr>
          <p:cNvPr id="22" name="Image 9" descr="/home/claude/ngoconnect/icons/arrow_righ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6408" y="2327148"/>
            <a:ext cx="237744" cy="237744"/>
          </a:xfrm>
          <a:prstGeom prst="rect">
            <a:avLst/>
          </a:prstGeom>
        </p:spPr>
      </p:pic>
      <p:sp>
        <p:nvSpPr>
          <p:cNvPr id="23" name="Shape 11"/>
          <p:cNvSpPr/>
          <p:nvPr/>
        </p:nvSpPr>
        <p:spPr>
          <a:xfrm>
            <a:off x="8046720" y="1828800"/>
            <a:ext cx="1691640" cy="1234440"/>
          </a:xfrm>
          <a:prstGeom prst="roundRect">
            <a:avLst>
              <a:gd name="adj" fmla="val 5926"/>
            </a:avLst>
          </a:prstGeom>
          <a:solidFill>
            <a:srgbClr val="EAF0F9"/>
          </a:solidFill>
          <a:ln w="9525">
            <a:solidFill>
              <a:srgbClr val="D9E2F3"/>
            </a:solidFill>
            <a:prstDash val="solid"/>
          </a:ln>
        </p:spPr>
      </p:sp>
      <p:pic>
        <p:nvPicPr>
          <p:cNvPr id="24" name="Image 10" descr="/home/claude/ngoconnect/icons/admin_rol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36508" y="1965960"/>
            <a:ext cx="512064" cy="512064"/>
          </a:xfrm>
          <a:prstGeom prst="rect">
            <a:avLst/>
          </a:prstGeom>
        </p:spPr>
      </p:pic>
      <p:sp>
        <p:nvSpPr>
          <p:cNvPr id="25" name="Text 12"/>
          <p:cNvSpPr/>
          <p:nvPr/>
        </p:nvSpPr>
        <p:spPr>
          <a:xfrm>
            <a:off x="8092440" y="2542032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Approval</a:t>
            </a:r>
            <a:endParaRPr lang="en-US" sz="1000" dirty="0"/>
          </a:p>
        </p:txBody>
      </p:sp>
      <p:pic>
        <p:nvPicPr>
          <p:cNvPr id="26" name="Image 11" descr="/home/claude/ngoconnect/icons/arrow_righ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0928" y="2327148"/>
            <a:ext cx="237744" cy="237744"/>
          </a:xfrm>
          <a:prstGeom prst="rect">
            <a:avLst/>
          </a:prstGeom>
        </p:spPr>
      </p:pic>
      <p:sp>
        <p:nvSpPr>
          <p:cNvPr id="27" name="Shape 13"/>
          <p:cNvSpPr/>
          <p:nvPr/>
        </p:nvSpPr>
        <p:spPr>
          <a:xfrm>
            <a:off x="9921240" y="1828800"/>
            <a:ext cx="1691640" cy="1234440"/>
          </a:xfrm>
          <a:prstGeom prst="roundRect">
            <a:avLst>
              <a:gd name="adj" fmla="val 5926"/>
            </a:avLst>
          </a:prstGeom>
          <a:solidFill>
            <a:srgbClr val="1F6F63"/>
          </a:solidFill>
          <a:ln w="9525">
            <a:solidFill>
              <a:srgbClr val="D9E2F3"/>
            </a:solidFill>
            <a:prstDash val="solid"/>
          </a:ln>
        </p:spPr>
      </p:sp>
      <p:pic>
        <p:nvPicPr>
          <p:cNvPr id="28" name="Image 12" descr="/home/claude/ngoconnect/icons/listing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11028" y="1965960"/>
            <a:ext cx="512064" cy="512064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9" name="Text 14"/>
          <p:cNvSpPr/>
          <p:nvPr/>
        </p:nvSpPr>
        <p:spPr>
          <a:xfrm>
            <a:off x="9966960" y="2542032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Visible</a:t>
            </a:r>
            <a:endParaRPr lang="en-US" sz="1000" dirty="0"/>
          </a:p>
        </p:txBody>
      </p:sp>
      <p:sp>
        <p:nvSpPr>
          <p:cNvPr id="30" name="Text 15"/>
          <p:cNvSpPr/>
          <p:nvPr/>
        </p:nvSpPr>
        <p:spPr>
          <a:xfrm>
            <a:off x="548640" y="3429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7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Donation Journey</a:t>
            </a:r>
            <a:endParaRPr lang="en-US" sz="1300" dirty="0"/>
          </a:p>
        </p:txBody>
      </p:sp>
      <p:sp>
        <p:nvSpPr>
          <p:cNvPr id="31" name="Shape 16"/>
          <p:cNvSpPr/>
          <p:nvPr/>
        </p:nvSpPr>
        <p:spPr>
          <a:xfrm>
            <a:off x="548640" y="3840480"/>
            <a:ext cx="2011680" cy="1234440"/>
          </a:xfrm>
          <a:prstGeom prst="roundRect">
            <a:avLst>
              <a:gd name="adj" fmla="val 5926"/>
            </a:avLst>
          </a:prstGeom>
          <a:solidFill>
            <a:srgbClr val="DEEAF6"/>
          </a:solidFill>
          <a:ln w="9525">
            <a:solidFill>
              <a:srgbClr val="D9E2F3"/>
            </a:solidFill>
            <a:prstDash val="solid"/>
          </a:ln>
        </p:spPr>
      </p:sp>
      <p:pic>
        <p:nvPicPr>
          <p:cNvPr id="32" name="Image 13" descr="/home/claude/ngoconnect/icons/donor_rol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98448" y="3977640"/>
            <a:ext cx="512064" cy="512064"/>
          </a:xfrm>
          <a:prstGeom prst="rect">
            <a:avLst/>
          </a:prstGeom>
        </p:spPr>
      </p:pic>
      <p:sp>
        <p:nvSpPr>
          <p:cNvPr id="33" name="Text 17"/>
          <p:cNvSpPr/>
          <p:nvPr/>
        </p:nvSpPr>
        <p:spPr>
          <a:xfrm>
            <a:off x="594360" y="455371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Verified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7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</a:t>
            </a:r>
            <a:endParaRPr lang="en-US" sz="1000" dirty="0"/>
          </a:p>
        </p:txBody>
      </p:sp>
      <p:pic>
        <p:nvPicPr>
          <p:cNvPr id="34" name="Image 14" descr="/home/claude/ngoconnect/icons/arrow_righ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7178" y="4338828"/>
            <a:ext cx="237744" cy="237744"/>
          </a:xfrm>
          <a:prstGeom prst="rect">
            <a:avLst/>
          </a:prstGeom>
        </p:spPr>
      </p:pic>
      <p:sp>
        <p:nvSpPr>
          <p:cNvPr id="35" name="Shape 18"/>
          <p:cNvSpPr/>
          <p:nvPr/>
        </p:nvSpPr>
        <p:spPr>
          <a:xfrm>
            <a:off x="2811780" y="3840480"/>
            <a:ext cx="2011680" cy="1234440"/>
          </a:xfrm>
          <a:prstGeom prst="roundRect">
            <a:avLst>
              <a:gd name="adj" fmla="val 5926"/>
            </a:avLst>
          </a:prstGeom>
          <a:solidFill>
            <a:srgbClr val="DEEAF6"/>
          </a:solidFill>
          <a:ln w="9525">
            <a:solidFill>
              <a:srgbClr val="D9E2F3"/>
            </a:solidFill>
            <a:prstDash val="solid"/>
          </a:ln>
        </p:spPr>
      </p:sp>
      <p:pic>
        <p:nvPicPr>
          <p:cNvPr id="36" name="Image 15" descr="/home/claude/ngoconnect/icons/payment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61588" y="3977640"/>
            <a:ext cx="512064" cy="512064"/>
          </a:xfrm>
          <a:prstGeom prst="rect">
            <a:avLst/>
          </a:prstGeom>
        </p:spPr>
      </p:pic>
      <p:sp>
        <p:nvSpPr>
          <p:cNvPr id="37" name="Text 19"/>
          <p:cNvSpPr/>
          <p:nvPr/>
        </p:nvSpPr>
        <p:spPr>
          <a:xfrm>
            <a:off x="2857500" y="455371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Donate</a:t>
            </a:r>
            <a:endParaRPr lang="en-US" sz="1000" dirty="0"/>
          </a:p>
        </p:txBody>
      </p:sp>
      <p:pic>
        <p:nvPicPr>
          <p:cNvPr id="38" name="Image 16" descr="/home/claude/ngoconnect/icons/arrow_righ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0318" y="4338828"/>
            <a:ext cx="237744" cy="237744"/>
          </a:xfrm>
          <a:prstGeom prst="rect">
            <a:avLst/>
          </a:prstGeom>
        </p:spPr>
      </p:pic>
      <p:sp>
        <p:nvSpPr>
          <p:cNvPr id="39" name="Shape 20"/>
          <p:cNvSpPr/>
          <p:nvPr/>
        </p:nvSpPr>
        <p:spPr>
          <a:xfrm>
            <a:off x="5074920" y="3840480"/>
            <a:ext cx="2011680" cy="1234440"/>
          </a:xfrm>
          <a:prstGeom prst="roundRect">
            <a:avLst>
              <a:gd name="adj" fmla="val 5926"/>
            </a:avLst>
          </a:prstGeom>
          <a:solidFill>
            <a:srgbClr val="DEEAF6"/>
          </a:solidFill>
          <a:ln w="9525">
            <a:solidFill>
              <a:srgbClr val="D9E2F3"/>
            </a:solidFill>
            <a:prstDash val="solid"/>
          </a:ln>
        </p:spPr>
      </p:sp>
      <p:pic>
        <p:nvPicPr>
          <p:cNvPr id="40" name="Image 17" descr="/home/claude/ngoconnect/icons/hmac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24728" y="3977640"/>
            <a:ext cx="512064" cy="512064"/>
          </a:xfrm>
          <a:prstGeom prst="rect">
            <a:avLst/>
          </a:prstGeom>
        </p:spPr>
      </p:pic>
      <p:sp>
        <p:nvSpPr>
          <p:cNvPr id="41" name="Text 21"/>
          <p:cNvSpPr/>
          <p:nvPr/>
        </p:nvSpPr>
        <p:spPr>
          <a:xfrm>
            <a:off x="5120640" y="455371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7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000" dirty="0"/>
          </a:p>
        </p:txBody>
      </p:sp>
      <p:pic>
        <p:nvPicPr>
          <p:cNvPr id="42" name="Image 18" descr="/home/claude/ngoconnect/icons/arrow_righ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3458" y="4338828"/>
            <a:ext cx="237744" cy="237744"/>
          </a:xfrm>
          <a:prstGeom prst="rect">
            <a:avLst/>
          </a:prstGeom>
        </p:spPr>
      </p:pic>
      <p:sp>
        <p:nvSpPr>
          <p:cNvPr id="43" name="Shape 22"/>
          <p:cNvSpPr/>
          <p:nvPr/>
        </p:nvSpPr>
        <p:spPr>
          <a:xfrm>
            <a:off x="7338060" y="3840480"/>
            <a:ext cx="2011680" cy="1234440"/>
          </a:xfrm>
          <a:prstGeom prst="roundRect">
            <a:avLst>
              <a:gd name="adj" fmla="val 5926"/>
            </a:avLst>
          </a:prstGeom>
          <a:solidFill>
            <a:srgbClr val="DEEAF6"/>
          </a:solidFill>
          <a:ln w="9525">
            <a:solidFill>
              <a:srgbClr val="D9E2F3"/>
            </a:solidFill>
            <a:prstDash val="solid"/>
          </a:ln>
        </p:spPr>
      </p:sp>
      <p:pic>
        <p:nvPicPr>
          <p:cNvPr id="44" name="Image 19" descr="/home/claude/ngoconnect/icons/append_ledger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87868" y="3977640"/>
            <a:ext cx="512064" cy="512064"/>
          </a:xfrm>
          <a:prstGeom prst="rect">
            <a:avLst/>
          </a:prstGeom>
        </p:spPr>
      </p:pic>
      <p:sp>
        <p:nvSpPr>
          <p:cNvPr id="45" name="Text 23"/>
          <p:cNvSpPr/>
          <p:nvPr/>
        </p:nvSpPr>
        <p:spPr>
          <a:xfrm>
            <a:off x="7383780" y="455371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Entry</a:t>
            </a:r>
            <a:endParaRPr lang="en-US" sz="1000" dirty="0"/>
          </a:p>
        </p:txBody>
      </p:sp>
      <p:pic>
        <p:nvPicPr>
          <p:cNvPr id="46" name="Image 20" descr="/home/claude/ngoconnect/icons/arrow_righ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56598" y="4338828"/>
            <a:ext cx="237744" cy="237744"/>
          </a:xfrm>
          <a:prstGeom prst="rect">
            <a:avLst/>
          </a:prstGeom>
        </p:spPr>
      </p:pic>
      <p:sp>
        <p:nvSpPr>
          <p:cNvPr id="47" name="Shape 24"/>
          <p:cNvSpPr/>
          <p:nvPr/>
        </p:nvSpPr>
        <p:spPr>
          <a:xfrm>
            <a:off x="9601200" y="3840480"/>
            <a:ext cx="2011680" cy="1234440"/>
          </a:xfrm>
          <a:prstGeom prst="roundRect">
            <a:avLst>
              <a:gd name="adj" fmla="val 5926"/>
            </a:avLst>
          </a:prstGeom>
          <a:solidFill>
            <a:srgbClr val="2F75B5"/>
          </a:solidFill>
          <a:ln w="9525">
            <a:solidFill>
              <a:srgbClr val="D9E2F3"/>
            </a:solidFill>
            <a:prstDash val="solid"/>
          </a:ln>
        </p:spPr>
      </p:sp>
      <p:pic>
        <p:nvPicPr>
          <p:cNvPr id="48" name="Image 21" descr="/home/claude/ngoconnect/icons/receipt_aut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1008" y="3977640"/>
            <a:ext cx="512064" cy="512064"/>
          </a:xfrm>
          <a:prstGeom prst="rect">
            <a:avLst/>
          </a:prstGeom>
        </p:spPr>
      </p:pic>
      <p:sp>
        <p:nvSpPr>
          <p:cNvPr id="49" name="Text 25"/>
          <p:cNvSpPr/>
          <p:nvPr/>
        </p:nvSpPr>
        <p:spPr>
          <a:xfrm>
            <a:off x="9646920" y="455371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80G Receipt</a:t>
            </a:r>
            <a:endParaRPr lang="en-US" sz="1000" dirty="0"/>
          </a:p>
        </p:txBody>
      </p:sp>
      <p:sp>
        <p:nvSpPr>
          <p:cNvPr id="50" name="Text 26"/>
          <p:cNvSpPr/>
          <p:nvPr/>
        </p:nvSpPr>
        <p:spPr>
          <a:xfrm>
            <a:off x="548640" y="53035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gateway-funded donation is credited only after its HMAC-SHA256 signature is verified and the donation record is atomically claimed.</a:t>
            </a:r>
            <a:endParaRPr lang="en-US" sz="1100" dirty="0"/>
          </a:p>
        </p:txBody>
      </p:sp>
      <p:sp>
        <p:nvSpPr>
          <p:cNvPr id="51" name="Text 2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NGOConnect  |  Sardar Vallabhbhai Global University</a:t>
            </a:r>
            <a:endParaRPr lang="en-US" sz="900" dirty="0"/>
          </a:p>
        </p:txBody>
      </p:sp>
      <p:sp>
        <p:nvSpPr>
          <p:cNvPr id="52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ngoconnect/icons/plus_deco.png"/>
          <p:cNvPicPr>
            <a:picLocks noChangeAspect="1"/>
          </p:cNvPicPr>
          <p:nvPr/>
        </p:nvPicPr>
        <p:blipFill>
          <a:blip r:embed="rId3">
            <a:alphaModFix amt="55000"/>
          </a:blip>
          <a:stretch>
            <a:fillRect/>
          </a:stretch>
        </p:blipFill>
        <p:spPr>
          <a:xfrm>
            <a:off x="11688775" y="228600"/>
            <a:ext cx="256032" cy="256032"/>
          </a:xfrm>
          <a:prstGeom prst="rect">
            <a:avLst/>
          </a:prstGeom>
        </p:spPr>
      </p:pic>
      <p:pic>
        <p:nvPicPr>
          <p:cNvPr id="3" name="Image 1" descr="/home/claude/ngoconnect/icons/plus_deco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228600" y="6355080"/>
            <a:ext cx="219456" cy="21945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7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6" name="Shape 2"/>
          <p:cNvSpPr/>
          <p:nvPr/>
        </p:nvSpPr>
        <p:spPr>
          <a:xfrm>
            <a:off x="548640" y="1600200"/>
            <a:ext cx="2651760" cy="2194560"/>
          </a:xfrm>
          <a:prstGeom prst="roundRect">
            <a:avLst>
              <a:gd name="adj" fmla="val 3333"/>
            </a:avLst>
          </a:prstGeom>
          <a:solidFill>
            <a:srgbClr val="F3F6FA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1554480" y="1801368"/>
            <a:ext cx="640080" cy="640080"/>
          </a:xfrm>
          <a:prstGeom prst="ellipse">
            <a:avLst/>
          </a:prstGeom>
          <a:solidFill>
            <a:srgbClr val="EAF0F9"/>
          </a:solidFill>
          <a:ln w="9525">
            <a:solidFill>
              <a:srgbClr val="D9E2F3"/>
            </a:solidFill>
            <a:prstDash val="solid"/>
          </a:ln>
        </p:spPr>
      </p:sp>
      <p:pic>
        <p:nvPicPr>
          <p:cNvPr id="8" name="Image 2" descr="/home/claude/ngoconnect/icons/fronte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0901" y="1967789"/>
            <a:ext cx="307238" cy="30723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58368" y="2560320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50" dirty="0"/>
          </a:p>
        </p:txBody>
      </p:sp>
      <p:sp>
        <p:nvSpPr>
          <p:cNvPr id="10" name="Text 5"/>
          <p:cNvSpPr/>
          <p:nvPr/>
        </p:nvSpPr>
        <p:spPr>
          <a:xfrm>
            <a:off x="685800" y="292608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19, Vite 8, React Router 7, Axios, CSS3</a:t>
            </a:r>
            <a:endParaRPr lang="en-US" sz="950" dirty="0"/>
          </a:p>
        </p:txBody>
      </p:sp>
      <p:sp>
        <p:nvSpPr>
          <p:cNvPr id="11" name="Shape 6"/>
          <p:cNvSpPr/>
          <p:nvPr/>
        </p:nvSpPr>
        <p:spPr>
          <a:xfrm>
            <a:off x="3355848" y="1600200"/>
            <a:ext cx="2651760" cy="2194560"/>
          </a:xfrm>
          <a:prstGeom prst="roundRect">
            <a:avLst>
              <a:gd name="adj" fmla="val 3333"/>
            </a:avLst>
          </a:prstGeom>
          <a:solidFill>
            <a:srgbClr val="F3F6FA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4361688" y="1801368"/>
            <a:ext cx="640080" cy="640080"/>
          </a:xfrm>
          <a:prstGeom prst="ellipse">
            <a:avLst/>
          </a:prstGeom>
          <a:solidFill>
            <a:srgbClr val="EAF0F9"/>
          </a:solidFill>
          <a:ln w="9525">
            <a:solidFill>
              <a:srgbClr val="D9E2F3"/>
            </a:solidFill>
            <a:prstDash val="solid"/>
          </a:ln>
        </p:spPr>
      </p:sp>
      <p:pic>
        <p:nvPicPr>
          <p:cNvPr id="13" name="Image 3" descr="/home/claude/ngoconnect/icons/backe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8109" y="1967789"/>
            <a:ext cx="307238" cy="30723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465576" y="2560320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50" dirty="0"/>
          </a:p>
        </p:txBody>
      </p:sp>
      <p:sp>
        <p:nvSpPr>
          <p:cNvPr id="15" name="Text 9"/>
          <p:cNvSpPr/>
          <p:nvPr/>
        </p:nvSpPr>
        <p:spPr>
          <a:xfrm>
            <a:off x="3493008" y="292608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17, Spring Boot 4.1.1, Spring Security, Spring Data MongoDB, Spring Mail</a:t>
            </a:r>
            <a:endParaRPr lang="en-US" sz="950" dirty="0"/>
          </a:p>
        </p:txBody>
      </p:sp>
      <p:sp>
        <p:nvSpPr>
          <p:cNvPr id="16" name="Shape 10"/>
          <p:cNvSpPr/>
          <p:nvPr/>
        </p:nvSpPr>
        <p:spPr>
          <a:xfrm>
            <a:off x="6163056" y="1600200"/>
            <a:ext cx="2651760" cy="2194560"/>
          </a:xfrm>
          <a:prstGeom prst="roundRect">
            <a:avLst>
              <a:gd name="adj" fmla="val 3333"/>
            </a:avLst>
          </a:prstGeom>
          <a:solidFill>
            <a:srgbClr val="F3F6FA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7168896" y="1801368"/>
            <a:ext cx="640080" cy="640080"/>
          </a:xfrm>
          <a:prstGeom prst="ellipse">
            <a:avLst/>
          </a:prstGeom>
          <a:solidFill>
            <a:srgbClr val="EAF0F9"/>
          </a:solidFill>
          <a:ln w="9525">
            <a:solidFill>
              <a:srgbClr val="D9E2F3"/>
            </a:solidFill>
            <a:prstDash val="solid"/>
          </a:ln>
        </p:spPr>
      </p:sp>
      <p:pic>
        <p:nvPicPr>
          <p:cNvPr id="18" name="Image 4" descr="/home/claude/ngoconnect/icons/datab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5317" y="1967789"/>
            <a:ext cx="307238" cy="30723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272784" y="2560320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50" dirty="0"/>
          </a:p>
        </p:txBody>
      </p:sp>
      <p:sp>
        <p:nvSpPr>
          <p:cNvPr id="20" name="Text 13"/>
          <p:cNvSpPr/>
          <p:nvPr/>
        </p:nvSpPr>
        <p:spPr>
          <a:xfrm>
            <a:off x="6300216" y="292608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</a:t>
            </a:r>
            <a:endParaRPr lang="en-US" sz="950" dirty="0"/>
          </a:p>
        </p:txBody>
      </p:sp>
      <p:sp>
        <p:nvSpPr>
          <p:cNvPr id="21" name="Shape 14"/>
          <p:cNvSpPr/>
          <p:nvPr/>
        </p:nvSpPr>
        <p:spPr>
          <a:xfrm>
            <a:off x="8970264" y="1600200"/>
            <a:ext cx="2651760" cy="2194560"/>
          </a:xfrm>
          <a:prstGeom prst="roundRect">
            <a:avLst>
              <a:gd name="adj" fmla="val 3333"/>
            </a:avLst>
          </a:prstGeom>
          <a:solidFill>
            <a:srgbClr val="F3F6FA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9976104" y="1801368"/>
            <a:ext cx="640080" cy="640080"/>
          </a:xfrm>
          <a:prstGeom prst="ellipse">
            <a:avLst/>
          </a:prstGeom>
          <a:solidFill>
            <a:srgbClr val="EAF0F9"/>
          </a:solidFill>
          <a:ln w="9525">
            <a:solidFill>
              <a:srgbClr val="D9E2F3"/>
            </a:solidFill>
            <a:prstDash val="solid"/>
          </a:ln>
        </p:spPr>
      </p:sp>
      <p:pic>
        <p:nvPicPr>
          <p:cNvPr id="23" name="Image 5" descr="/home/claude/ngoconnect/icons/paymen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42525" y="1967789"/>
            <a:ext cx="307238" cy="30723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9079992" y="2560320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250" dirty="0"/>
          </a:p>
        </p:txBody>
      </p:sp>
      <p:sp>
        <p:nvSpPr>
          <p:cNvPr id="25" name="Text 17"/>
          <p:cNvSpPr/>
          <p:nvPr/>
        </p:nvSpPr>
        <p:spPr>
          <a:xfrm>
            <a:off x="9107424" y="292608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Java SDK</a:t>
            </a:r>
            <a:endParaRPr lang="en-US" sz="950" dirty="0"/>
          </a:p>
        </p:txBody>
      </p:sp>
      <p:sp>
        <p:nvSpPr>
          <p:cNvPr id="26" name="Shape 18"/>
          <p:cNvSpPr/>
          <p:nvPr/>
        </p:nvSpPr>
        <p:spPr>
          <a:xfrm>
            <a:off x="548640" y="4023360"/>
            <a:ext cx="2651760" cy="2194560"/>
          </a:xfrm>
          <a:prstGeom prst="roundRect">
            <a:avLst>
              <a:gd name="adj" fmla="val 3333"/>
            </a:avLst>
          </a:prstGeom>
          <a:solidFill>
            <a:srgbClr val="F3F6FA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1554480" y="4224528"/>
            <a:ext cx="640080" cy="640080"/>
          </a:xfrm>
          <a:prstGeom prst="ellipse">
            <a:avLst/>
          </a:prstGeom>
          <a:solidFill>
            <a:srgbClr val="EAF0F9"/>
          </a:solidFill>
          <a:ln w="9525">
            <a:solidFill>
              <a:srgbClr val="D9E2F3"/>
            </a:solidFill>
            <a:prstDash val="solid"/>
          </a:ln>
        </p:spPr>
      </p:sp>
      <p:pic>
        <p:nvPicPr>
          <p:cNvPr id="28" name="Image 6" descr="/home/claude/ngoconnect/icons/medi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20901" y="4390949"/>
            <a:ext cx="307238" cy="307238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58368" y="4983480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Storage</a:t>
            </a:r>
            <a:endParaRPr lang="en-US" sz="1250" dirty="0"/>
          </a:p>
        </p:txBody>
      </p:sp>
      <p:sp>
        <p:nvSpPr>
          <p:cNvPr id="30" name="Text 21"/>
          <p:cNvSpPr/>
          <p:nvPr/>
        </p:nvSpPr>
        <p:spPr>
          <a:xfrm>
            <a:off x="685800" y="534924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</a:t>
            </a:r>
            <a:endParaRPr lang="en-US" sz="950" dirty="0"/>
          </a:p>
        </p:txBody>
      </p:sp>
      <p:sp>
        <p:nvSpPr>
          <p:cNvPr id="31" name="Shape 22"/>
          <p:cNvSpPr/>
          <p:nvPr/>
        </p:nvSpPr>
        <p:spPr>
          <a:xfrm>
            <a:off x="3355848" y="4023360"/>
            <a:ext cx="2651760" cy="2194560"/>
          </a:xfrm>
          <a:prstGeom prst="roundRect">
            <a:avLst>
              <a:gd name="adj" fmla="val 3333"/>
            </a:avLst>
          </a:prstGeom>
          <a:solidFill>
            <a:srgbClr val="F3F6FA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32" name="Shape 23"/>
          <p:cNvSpPr/>
          <p:nvPr/>
        </p:nvSpPr>
        <p:spPr>
          <a:xfrm>
            <a:off x="4361688" y="4224528"/>
            <a:ext cx="640080" cy="640080"/>
          </a:xfrm>
          <a:prstGeom prst="ellipse">
            <a:avLst/>
          </a:prstGeom>
          <a:solidFill>
            <a:srgbClr val="EAF0F9"/>
          </a:solidFill>
          <a:ln w="9525">
            <a:solidFill>
              <a:srgbClr val="D9E2F3"/>
            </a:solidFill>
            <a:prstDash val="solid"/>
          </a:ln>
        </p:spPr>
      </p:sp>
      <p:pic>
        <p:nvPicPr>
          <p:cNvPr id="33" name="Image 7" descr="/home/claude/ngoconnect/icons/pd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28109" y="4390949"/>
            <a:ext cx="307238" cy="307238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3465576" y="4983480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/ Receipts</a:t>
            </a:r>
            <a:endParaRPr lang="en-US" sz="1250" dirty="0"/>
          </a:p>
        </p:txBody>
      </p:sp>
      <p:sp>
        <p:nvSpPr>
          <p:cNvPr id="35" name="Text 25"/>
          <p:cNvSpPr/>
          <p:nvPr/>
        </p:nvSpPr>
        <p:spPr>
          <a:xfrm>
            <a:off x="3493008" y="534924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PDFBox</a:t>
            </a:r>
            <a:endParaRPr lang="en-US" sz="950" dirty="0"/>
          </a:p>
        </p:txBody>
      </p:sp>
      <p:sp>
        <p:nvSpPr>
          <p:cNvPr id="36" name="Shape 26"/>
          <p:cNvSpPr/>
          <p:nvPr/>
        </p:nvSpPr>
        <p:spPr>
          <a:xfrm>
            <a:off x="6163056" y="4023360"/>
            <a:ext cx="2651760" cy="2194560"/>
          </a:xfrm>
          <a:prstGeom prst="roundRect">
            <a:avLst>
              <a:gd name="adj" fmla="val 3333"/>
            </a:avLst>
          </a:prstGeom>
          <a:solidFill>
            <a:srgbClr val="F3F6FA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37" name="Shape 27"/>
          <p:cNvSpPr/>
          <p:nvPr/>
        </p:nvSpPr>
        <p:spPr>
          <a:xfrm>
            <a:off x="7168896" y="4224528"/>
            <a:ext cx="640080" cy="640080"/>
          </a:xfrm>
          <a:prstGeom prst="ellipse">
            <a:avLst/>
          </a:prstGeom>
          <a:solidFill>
            <a:srgbClr val="EAF0F9"/>
          </a:solidFill>
          <a:ln w="9525">
            <a:solidFill>
              <a:srgbClr val="D9E2F3"/>
            </a:solidFill>
            <a:prstDash val="solid"/>
          </a:ln>
        </p:spPr>
      </p:sp>
      <p:pic>
        <p:nvPicPr>
          <p:cNvPr id="38" name="Image 8" descr="/home/claude/ngoconnect/icons/oc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35317" y="4390949"/>
            <a:ext cx="307238" cy="307238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6272784" y="4983480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</a:t>
            </a:r>
            <a:endParaRPr lang="en-US" sz="1250" dirty="0"/>
          </a:p>
        </p:txBody>
      </p:sp>
      <p:sp>
        <p:nvSpPr>
          <p:cNvPr id="40" name="Text 29"/>
          <p:cNvSpPr/>
          <p:nvPr/>
        </p:nvSpPr>
        <p:spPr>
          <a:xfrm>
            <a:off x="6300216" y="534924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Tess4J + Tesseract OCR</a:t>
            </a:r>
            <a:endParaRPr lang="en-US" sz="950" dirty="0"/>
          </a:p>
        </p:txBody>
      </p:sp>
      <p:sp>
        <p:nvSpPr>
          <p:cNvPr id="41" name="Shape 30"/>
          <p:cNvSpPr/>
          <p:nvPr/>
        </p:nvSpPr>
        <p:spPr>
          <a:xfrm>
            <a:off x="8970264" y="4023360"/>
            <a:ext cx="2651760" cy="2194560"/>
          </a:xfrm>
          <a:prstGeom prst="roundRect">
            <a:avLst>
              <a:gd name="adj" fmla="val 3333"/>
            </a:avLst>
          </a:prstGeom>
          <a:solidFill>
            <a:srgbClr val="F3F6FA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42" name="Shape 31"/>
          <p:cNvSpPr/>
          <p:nvPr/>
        </p:nvSpPr>
        <p:spPr>
          <a:xfrm>
            <a:off x="9976104" y="4224528"/>
            <a:ext cx="640080" cy="640080"/>
          </a:xfrm>
          <a:prstGeom prst="ellipse">
            <a:avLst/>
          </a:prstGeom>
          <a:solidFill>
            <a:srgbClr val="EAF0F9"/>
          </a:solidFill>
          <a:ln w="9525">
            <a:solidFill>
              <a:srgbClr val="D9E2F3"/>
            </a:solidFill>
            <a:prstDash val="solid"/>
          </a:ln>
        </p:spPr>
      </p:sp>
      <p:pic>
        <p:nvPicPr>
          <p:cNvPr id="43" name="Image 9" descr="/home/claude/ngoconnect/icons/buil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42525" y="4390949"/>
            <a:ext cx="307238" cy="307238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9079992" y="4983480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Design Tools</a:t>
            </a:r>
            <a:endParaRPr lang="en-US" sz="1250" dirty="0"/>
          </a:p>
        </p:txBody>
      </p:sp>
      <p:sp>
        <p:nvSpPr>
          <p:cNvPr id="45" name="Text 33"/>
          <p:cNvSpPr/>
          <p:nvPr/>
        </p:nvSpPr>
        <p:spPr>
          <a:xfrm>
            <a:off x="9107424" y="534924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Maven, PlantUML, Git &amp; GitHub</a:t>
            </a:r>
            <a:endParaRPr lang="en-US" sz="950" dirty="0"/>
          </a:p>
        </p:txBody>
      </p:sp>
      <p:sp>
        <p:nvSpPr>
          <p:cNvPr id="46" name="Text 3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NGOConnect  |  Sardar Vallabhbhai Global University</a:t>
            </a:r>
            <a:endParaRPr lang="en-US" sz="900" dirty="0"/>
          </a:p>
        </p:txBody>
      </p:sp>
      <p:sp>
        <p:nvSpPr>
          <p:cNvPr id="47" name="Text 3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ngoconnect/icons/plus_deco.png"/>
          <p:cNvPicPr>
            <a:picLocks noChangeAspect="1"/>
          </p:cNvPicPr>
          <p:nvPr/>
        </p:nvPicPr>
        <p:blipFill>
          <a:blip r:embed="rId3">
            <a:alphaModFix amt="55000"/>
          </a:blip>
          <a:stretch>
            <a:fillRect/>
          </a:stretch>
        </p:blipFill>
        <p:spPr>
          <a:xfrm>
            <a:off x="11688775" y="228600"/>
            <a:ext cx="256032" cy="256032"/>
          </a:xfrm>
          <a:prstGeom prst="rect">
            <a:avLst/>
          </a:prstGeom>
        </p:spPr>
      </p:pic>
      <p:pic>
        <p:nvPicPr>
          <p:cNvPr id="3" name="Image 1" descr="/home/claude/ngoconnect/icons/plus_deco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228600" y="6355080"/>
            <a:ext cx="219456" cy="21945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7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UML Design Artifacts</a:t>
            </a:r>
            <a:endParaRPr lang="en-US" sz="3200" dirty="0"/>
          </a:p>
        </p:txBody>
      </p:sp>
      <p:sp>
        <p:nvSpPr>
          <p:cNvPr id="6" name="Shape 2"/>
          <p:cNvSpPr/>
          <p:nvPr/>
        </p:nvSpPr>
        <p:spPr>
          <a:xfrm>
            <a:off x="548640" y="1417320"/>
            <a:ext cx="4160520" cy="4892040"/>
          </a:xfrm>
          <a:prstGeom prst="roundRect">
            <a:avLst>
              <a:gd name="adj" fmla="val 1319"/>
            </a:avLst>
          </a:prstGeom>
          <a:solidFill>
            <a:srgbClr val="F3F6FA"/>
          </a:solidFill>
          <a:ln w="12700">
            <a:solidFill>
              <a:srgbClr val="D9E2F3"/>
            </a:solidFill>
            <a:prstDash val="solid"/>
          </a:ln>
        </p:spPr>
      </p:sp>
      <p:pic>
        <p:nvPicPr>
          <p:cNvPr id="7" name="Image 2" descr="/home/claude/ngoconnect/diagrams/sequence_don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6559" y="1554480"/>
            <a:ext cx="2484682" cy="429768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40080" y="5925312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Diagram — Donate via Gateway</a:t>
            </a:r>
            <a:endParaRPr lang="en-US" sz="1100" dirty="0"/>
          </a:p>
        </p:txBody>
      </p:sp>
      <p:sp>
        <p:nvSpPr>
          <p:cNvPr id="9" name="Shape 4"/>
          <p:cNvSpPr/>
          <p:nvPr/>
        </p:nvSpPr>
        <p:spPr>
          <a:xfrm>
            <a:off x="4892040" y="1417320"/>
            <a:ext cx="6720840" cy="3520440"/>
          </a:xfrm>
          <a:prstGeom prst="roundRect">
            <a:avLst>
              <a:gd name="adj" fmla="val 1558"/>
            </a:avLst>
          </a:prstGeom>
          <a:solidFill>
            <a:srgbClr val="F3F6FA"/>
          </a:solidFill>
          <a:ln w="12700">
            <a:solidFill>
              <a:srgbClr val="D9E2F3"/>
            </a:solidFill>
            <a:prstDash val="solid"/>
          </a:ln>
        </p:spPr>
      </p:sp>
      <p:pic>
        <p:nvPicPr>
          <p:cNvPr id="10" name="Image 3" descr="/home/claude/ngoconnect/diagrams/class_diagra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1554480"/>
            <a:ext cx="6446520" cy="292600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983480" y="4572000"/>
            <a:ext cx="6537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Diagram — Entities &amp; Associations</a:t>
            </a:r>
            <a:endParaRPr lang="en-US" sz="1100" dirty="0"/>
          </a:p>
        </p:txBody>
      </p:sp>
      <p:sp>
        <p:nvSpPr>
          <p:cNvPr id="12" name="Shape 6"/>
          <p:cNvSpPr/>
          <p:nvPr/>
        </p:nvSpPr>
        <p:spPr>
          <a:xfrm>
            <a:off x="4892040" y="5166360"/>
            <a:ext cx="3246120" cy="1188720"/>
          </a:xfrm>
          <a:prstGeom prst="roundRect">
            <a:avLst>
              <a:gd name="adj" fmla="val 6154"/>
            </a:avLst>
          </a:prstGeom>
          <a:solidFill>
            <a:srgbClr val="EAF0F9"/>
          </a:solidFill>
          <a:ln w="12700">
            <a:solidFill>
              <a:srgbClr val="D9E2F3"/>
            </a:solidFill>
            <a:prstDash val="solid"/>
          </a:ln>
        </p:spPr>
      </p:sp>
      <p:pic>
        <p:nvPicPr>
          <p:cNvPr id="13" name="Image 4" descr="/home/claude/ngoconnect/icons/usec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5367528"/>
            <a:ext cx="502920" cy="50292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715000" y="5303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5715000" y="569671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Donor/Volunteer and NGO/Admin capabilities — report p.19–22</a:t>
            </a:r>
            <a:endParaRPr lang="en-US" sz="950" dirty="0"/>
          </a:p>
        </p:txBody>
      </p:sp>
      <p:sp>
        <p:nvSpPr>
          <p:cNvPr id="16" name="Shape 9"/>
          <p:cNvSpPr/>
          <p:nvPr/>
        </p:nvSpPr>
        <p:spPr>
          <a:xfrm>
            <a:off x="8366760" y="5166360"/>
            <a:ext cx="3246120" cy="1188720"/>
          </a:xfrm>
          <a:prstGeom prst="roundRect">
            <a:avLst>
              <a:gd name="adj" fmla="val 6154"/>
            </a:avLst>
          </a:prstGeom>
          <a:solidFill>
            <a:srgbClr val="EAF0F9"/>
          </a:solidFill>
          <a:ln w="12700">
            <a:solidFill>
              <a:srgbClr val="D9E2F3"/>
            </a:solidFill>
            <a:prstDash val="solid"/>
          </a:ln>
        </p:spPr>
      </p:sp>
      <p:pic>
        <p:nvPicPr>
          <p:cNvPr id="17" name="Image 5" descr="/home/claude/ngoconnect/icons/activit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49640" y="5367528"/>
            <a:ext cx="502920" cy="50292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9189720" y="5303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Diagram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189720" y="569671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Donation &amp; NGO registration workflows — report p.24–28</a:t>
            </a:r>
            <a:endParaRPr lang="en-US" sz="950" dirty="0"/>
          </a:p>
        </p:txBody>
      </p:sp>
      <p:sp>
        <p:nvSpPr>
          <p:cNvPr id="20" name="Text 1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NGOConnect  |  Sardar Vallabhbhai Global University</a:t>
            </a:r>
            <a:endParaRPr lang="en-US" sz="900" dirty="0"/>
          </a:p>
        </p:txBody>
      </p:sp>
      <p:sp>
        <p:nvSpPr>
          <p:cNvPr id="21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ngoconnect/icons/plus_deco.png"/>
          <p:cNvPicPr>
            <a:picLocks noChangeAspect="1"/>
          </p:cNvPicPr>
          <p:nvPr/>
        </p:nvPicPr>
        <p:blipFill>
          <a:blip r:embed="rId3">
            <a:alphaModFix amt="55000"/>
          </a:blip>
          <a:stretch>
            <a:fillRect/>
          </a:stretch>
        </p:blipFill>
        <p:spPr>
          <a:xfrm>
            <a:off x="11688775" y="228600"/>
            <a:ext cx="256032" cy="256032"/>
          </a:xfrm>
          <a:prstGeom prst="rect">
            <a:avLst/>
          </a:prstGeom>
        </p:spPr>
      </p:pic>
      <p:pic>
        <p:nvPicPr>
          <p:cNvPr id="3" name="Image 1" descr="/home/claude/ngoconnect/icons/plus_deco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228600" y="6355080"/>
            <a:ext cx="219456" cy="21945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7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Financial Correctness</a:t>
            </a:r>
            <a:endParaRPr lang="en-US" sz="3200" dirty="0"/>
          </a:p>
        </p:txBody>
      </p:sp>
      <p:sp>
        <p:nvSpPr>
          <p:cNvPr id="6" name="Shape 2"/>
          <p:cNvSpPr/>
          <p:nvPr/>
        </p:nvSpPr>
        <p:spPr>
          <a:xfrm>
            <a:off x="548640" y="155448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3F6FA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713232" y="1943100"/>
            <a:ext cx="640080" cy="640080"/>
          </a:xfrm>
          <a:prstGeom prst="ellipse">
            <a:avLst/>
          </a:prstGeom>
          <a:solidFill>
            <a:srgbClr val="EAF0F9"/>
          </a:solidFill>
          <a:ln w="9525">
            <a:solidFill>
              <a:srgbClr val="D9E2F3"/>
            </a:solidFill>
            <a:prstDash val="solid"/>
          </a:ln>
        </p:spPr>
      </p:sp>
      <p:pic>
        <p:nvPicPr>
          <p:cNvPr id="8" name="Image 2" descr="/home/claude/ngoconnect/icons/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653" y="2109521"/>
            <a:ext cx="307238" cy="30723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508760" y="1554480"/>
            <a:ext cx="2514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 hashing</a:t>
            </a:r>
            <a:endParaRPr lang="en-US" sz="1250" dirty="0"/>
          </a:p>
        </p:txBody>
      </p:sp>
      <p:sp>
        <p:nvSpPr>
          <p:cNvPr id="10" name="Shape 5"/>
          <p:cNvSpPr/>
          <p:nvPr/>
        </p:nvSpPr>
        <p:spPr>
          <a:xfrm>
            <a:off x="4343400" y="155448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3F6FA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4507992" y="1943100"/>
            <a:ext cx="640080" cy="640080"/>
          </a:xfrm>
          <a:prstGeom prst="ellipse">
            <a:avLst/>
          </a:prstGeom>
          <a:solidFill>
            <a:srgbClr val="EAF0F9"/>
          </a:solidFill>
          <a:ln w="9525">
            <a:solidFill>
              <a:srgbClr val="D9E2F3"/>
            </a:solidFill>
            <a:prstDash val="solid"/>
          </a:ln>
        </p:spPr>
      </p:sp>
      <p:pic>
        <p:nvPicPr>
          <p:cNvPr id="12" name="Image 3" descr="/home/claude/ngoconnect/icons/role_aut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4413" y="2109521"/>
            <a:ext cx="307238" cy="30723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303520" y="1554480"/>
            <a:ext cx="2514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authorization</a:t>
            </a:r>
            <a:endParaRPr lang="en-US" sz="1250" dirty="0"/>
          </a:p>
        </p:txBody>
      </p:sp>
      <p:sp>
        <p:nvSpPr>
          <p:cNvPr id="14" name="Shape 8"/>
          <p:cNvSpPr/>
          <p:nvPr/>
        </p:nvSpPr>
        <p:spPr>
          <a:xfrm>
            <a:off x="8138160" y="155448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3F6FA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8302752" y="1943100"/>
            <a:ext cx="640080" cy="640080"/>
          </a:xfrm>
          <a:prstGeom prst="ellipse">
            <a:avLst/>
          </a:prstGeom>
          <a:solidFill>
            <a:srgbClr val="EAF0F9"/>
          </a:solidFill>
          <a:ln w="9525">
            <a:solidFill>
              <a:srgbClr val="D9E2F3"/>
            </a:solidFill>
            <a:prstDash val="solid"/>
          </a:ln>
        </p:spPr>
      </p:sp>
      <p:pic>
        <p:nvPicPr>
          <p:cNvPr id="16" name="Image 4" descr="/home/claude/ngoconnect/icons/hma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9173" y="2109521"/>
            <a:ext cx="307238" cy="30723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098280" y="1554480"/>
            <a:ext cx="2514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HMAC-SHA256 payment verification</a:t>
            </a:r>
            <a:endParaRPr lang="en-US" sz="1250" dirty="0"/>
          </a:p>
        </p:txBody>
      </p:sp>
      <p:sp>
        <p:nvSpPr>
          <p:cNvPr id="18" name="Shape 11"/>
          <p:cNvSpPr/>
          <p:nvPr/>
        </p:nvSpPr>
        <p:spPr>
          <a:xfrm>
            <a:off x="548640" y="3172968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3F6FA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19" name="Shape 12"/>
          <p:cNvSpPr/>
          <p:nvPr/>
        </p:nvSpPr>
        <p:spPr>
          <a:xfrm>
            <a:off x="713232" y="3561588"/>
            <a:ext cx="640080" cy="640080"/>
          </a:xfrm>
          <a:prstGeom prst="ellipse">
            <a:avLst/>
          </a:prstGeom>
          <a:solidFill>
            <a:srgbClr val="EAF0F9"/>
          </a:solidFill>
          <a:ln w="9525">
            <a:solidFill>
              <a:srgbClr val="D9E2F3"/>
            </a:solidFill>
            <a:prstDash val="solid"/>
          </a:ln>
        </p:spPr>
      </p:sp>
      <p:pic>
        <p:nvPicPr>
          <p:cNvPr id="20" name="Image 5" descr="/home/claude/ngoconnect/icons/atomi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9653" y="3728009"/>
            <a:ext cx="307238" cy="30723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508760" y="3172968"/>
            <a:ext cx="2514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wallet / balance operations</a:t>
            </a:r>
            <a:endParaRPr lang="en-US" sz="1250" dirty="0"/>
          </a:p>
        </p:txBody>
      </p:sp>
      <p:sp>
        <p:nvSpPr>
          <p:cNvPr id="22" name="Shape 14"/>
          <p:cNvSpPr/>
          <p:nvPr/>
        </p:nvSpPr>
        <p:spPr>
          <a:xfrm>
            <a:off x="4343400" y="3172968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3F6FA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23" name="Shape 15"/>
          <p:cNvSpPr/>
          <p:nvPr/>
        </p:nvSpPr>
        <p:spPr>
          <a:xfrm>
            <a:off x="4507992" y="3561588"/>
            <a:ext cx="640080" cy="640080"/>
          </a:xfrm>
          <a:prstGeom prst="ellipse">
            <a:avLst/>
          </a:prstGeom>
          <a:solidFill>
            <a:srgbClr val="EAF0F9"/>
          </a:solidFill>
          <a:ln w="9525">
            <a:solidFill>
              <a:srgbClr val="D9E2F3"/>
            </a:solidFill>
            <a:prstDash val="solid"/>
          </a:ln>
        </p:spPr>
      </p:sp>
      <p:pic>
        <p:nvPicPr>
          <p:cNvPr id="24" name="Image 6" descr="/home/claude/ngoconnect/icons/append_ledg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74413" y="3728009"/>
            <a:ext cx="307238" cy="30723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303520" y="3172968"/>
            <a:ext cx="2514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Immutable, append-only ledger</a:t>
            </a:r>
            <a:endParaRPr lang="en-US" sz="1250" dirty="0"/>
          </a:p>
        </p:txBody>
      </p:sp>
      <p:sp>
        <p:nvSpPr>
          <p:cNvPr id="26" name="Shape 17"/>
          <p:cNvSpPr/>
          <p:nvPr/>
        </p:nvSpPr>
        <p:spPr>
          <a:xfrm>
            <a:off x="8138160" y="3172968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3F6FA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27" name="Shape 18"/>
          <p:cNvSpPr/>
          <p:nvPr/>
        </p:nvSpPr>
        <p:spPr>
          <a:xfrm>
            <a:off x="8302752" y="3561588"/>
            <a:ext cx="640080" cy="640080"/>
          </a:xfrm>
          <a:prstGeom prst="ellipse">
            <a:avLst/>
          </a:prstGeom>
          <a:solidFill>
            <a:srgbClr val="EAF0F9"/>
          </a:solidFill>
          <a:ln w="9525">
            <a:solidFill>
              <a:srgbClr val="D9E2F3"/>
            </a:solidFill>
            <a:prstDash val="solid"/>
          </a:ln>
        </p:spPr>
      </p:sp>
      <p:pic>
        <p:nvPicPr>
          <p:cNvPr id="28" name="Image 7" descr="/home/claude/ngoconnect/icons/dedup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69173" y="3728009"/>
            <a:ext cx="307238" cy="307238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9098280" y="3172968"/>
            <a:ext cx="2514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Duplicate-payment protection</a:t>
            </a:r>
            <a:endParaRPr lang="en-US" sz="1250" dirty="0"/>
          </a:p>
        </p:txBody>
      </p:sp>
      <p:sp>
        <p:nvSpPr>
          <p:cNvPr id="30" name="Shape 20"/>
          <p:cNvSpPr/>
          <p:nvPr/>
        </p:nvSpPr>
        <p:spPr>
          <a:xfrm>
            <a:off x="548640" y="4791456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3F6FA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31" name="Shape 21"/>
          <p:cNvSpPr/>
          <p:nvPr/>
        </p:nvSpPr>
        <p:spPr>
          <a:xfrm>
            <a:off x="713232" y="5180076"/>
            <a:ext cx="640080" cy="640080"/>
          </a:xfrm>
          <a:prstGeom prst="ellipse">
            <a:avLst/>
          </a:prstGeom>
          <a:solidFill>
            <a:srgbClr val="EAF0F9"/>
          </a:solidFill>
          <a:ln w="9525">
            <a:solidFill>
              <a:srgbClr val="D9E2F3"/>
            </a:solidFill>
            <a:prstDash val="solid"/>
          </a:ln>
        </p:spPr>
      </p:sp>
      <p:pic>
        <p:nvPicPr>
          <p:cNvPr id="32" name="Image 8" descr="/home/claude/ngoconnect/icons/recover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9653" y="5346497"/>
            <a:ext cx="307238" cy="307238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1508760" y="4791456"/>
            <a:ext cx="2514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Server-to-server payment recovery</a:t>
            </a:r>
            <a:endParaRPr lang="en-US" sz="1250" dirty="0"/>
          </a:p>
        </p:txBody>
      </p:sp>
      <p:sp>
        <p:nvSpPr>
          <p:cNvPr id="34" name="Shape 23"/>
          <p:cNvSpPr/>
          <p:nvPr/>
        </p:nvSpPr>
        <p:spPr>
          <a:xfrm>
            <a:off x="4343400" y="4791456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3F6FA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35" name="Shape 24"/>
          <p:cNvSpPr/>
          <p:nvPr/>
        </p:nvSpPr>
        <p:spPr>
          <a:xfrm>
            <a:off x="4507992" y="5180076"/>
            <a:ext cx="640080" cy="640080"/>
          </a:xfrm>
          <a:prstGeom prst="ellipse">
            <a:avLst/>
          </a:prstGeom>
          <a:solidFill>
            <a:srgbClr val="EAF0F9"/>
          </a:solidFill>
          <a:ln w="9525">
            <a:solidFill>
              <a:srgbClr val="D9E2F3"/>
            </a:solidFill>
            <a:prstDash val="solid"/>
          </a:ln>
        </p:spPr>
      </p:sp>
      <p:pic>
        <p:nvPicPr>
          <p:cNvPr id="36" name="Image 9" descr="/home/claude/ngoconnect/icons/clearing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74413" y="5346497"/>
            <a:ext cx="307238" cy="307238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5303520" y="4791456"/>
            <a:ext cx="2514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 / clearing period</a:t>
            </a:r>
            <a:endParaRPr lang="en-US" sz="1250" dirty="0"/>
          </a:p>
        </p:txBody>
      </p:sp>
      <p:sp>
        <p:nvSpPr>
          <p:cNvPr id="38" name="Shape 26"/>
          <p:cNvSpPr/>
          <p:nvPr/>
        </p:nvSpPr>
        <p:spPr>
          <a:xfrm>
            <a:off x="8138160" y="4791456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3F6FA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39" name="Shape 27"/>
          <p:cNvSpPr/>
          <p:nvPr/>
        </p:nvSpPr>
        <p:spPr>
          <a:xfrm>
            <a:off x="8302752" y="5180076"/>
            <a:ext cx="640080" cy="640080"/>
          </a:xfrm>
          <a:prstGeom prst="ellipse">
            <a:avLst/>
          </a:prstGeom>
          <a:solidFill>
            <a:srgbClr val="EAF0F9"/>
          </a:solidFill>
          <a:ln w="9525">
            <a:solidFill>
              <a:srgbClr val="D9E2F3"/>
            </a:solidFill>
            <a:prstDash val="solid"/>
          </a:ln>
        </p:spPr>
      </p:sp>
      <p:pic>
        <p:nvPicPr>
          <p:cNvPr id="40" name="Image 10" descr="/home/claude/ngoconnect/icons/mask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69173" y="5346497"/>
            <a:ext cx="307238" cy="307238"/>
          </a:xfrm>
          <a:prstGeom prst="rect">
            <a:avLst/>
          </a:prstGeom>
        </p:spPr>
      </p:pic>
      <p:sp>
        <p:nvSpPr>
          <p:cNvPr id="41" name="Text 28"/>
          <p:cNvSpPr/>
          <p:nvPr/>
        </p:nvSpPr>
        <p:spPr>
          <a:xfrm>
            <a:off x="9098280" y="4791456"/>
            <a:ext cx="2514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payout information</a:t>
            </a:r>
            <a:endParaRPr lang="en-US" sz="1250" dirty="0"/>
          </a:p>
        </p:txBody>
      </p:sp>
      <p:sp>
        <p:nvSpPr>
          <p:cNvPr id="42" name="Text 2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NGOConnect  |  Sardar Vallabhbhai Global University</a:t>
            </a:r>
            <a:endParaRPr lang="en-US" sz="900" dirty="0"/>
          </a:p>
        </p:txBody>
      </p:sp>
      <p:sp>
        <p:nvSpPr>
          <p:cNvPr id="43" name="Text 3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ngoconnect/icons/plus_deco.png"/>
          <p:cNvPicPr>
            <a:picLocks noChangeAspect="1"/>
          </p:cNvPicPr>
          <p:nvPr/>
        </p:nvPicPr>
        <p:blipFill>
          <a:blip r:embed="rId3">
            <a:alphaModFix amt="55000"/>
          </a:blip>
          <a:stretch>
            <a:fillRect/>
          </a:stretch>
        </p:blipFill>
        <p:spPr>
          <a:xfrm>
            <a:off x="11688775" y="228600"/>
            <a:ext cx="256032" cy="256032"/>
          </a:xfrm>
          <a:prstGeom prst="rect">
            <a:avLst/>
          </a:prstGeom>
        </p:spPr>
      </p:pic>
      <p:pic>
        <p:nvPicPr>
          <p:cNvPr id="3" name="Image 1" descr="/home/claude/ngoconnect/icons/plus_deco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228600" y="6355080"/>
            <a:ext cx="219456" cy="21945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7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Future Enhancements</a:t>
            </a:r>
            <a:endParaRPr lang="en-US" sz="3200" dirty="0"/>
          </a:p>
        </p:txBody>
      </p:sp>
      <p:sp>
        <p:nvSpPr>
          <p:cNvPr id="6" name="Shape 2"/>
          <p:cNvSpPr/>
          <p:nvPr/>
        </p:nvSpPr>
        <p:spPr>
          <a:xfrm>
            <a:off x="548640" y="1554480"/>
            <a:ext cx="5349240" cy="4572000"/>
          </a:xfrm>
          <a:prstGeom prst="roundRect">
            <a:avLst>
              <a:gd name="adj" fmla="val 1600"/>
            </a:avLst>
          </a:prstGeom>
          <a:solidFill>
            <a:srgbClr val="DEEAF6"/>
          </a:solidFill>
          <a:ln w="12700">
            <a:solidFill>
              <a:srgbClr val="D9E2F3"/>
            </a:solidFill>
            <a:prstDash val="solid"/>
          </a:ln>
        </p:spPr>
      </p:sp>
      <p:pic>
        <p:nvPicPr>
          <p:cNvPr id="7" name="Image 2" descr="/home/claude/ngoconnect/icons/limit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1810512"/>
            <a:ext cx="457200" cy="4572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463040" y="1810512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700" dirty="0"/>
          </a:p>
        </p:txBody>
      </p:sp>
      <p:sp>
        <p:nvSpPr>
          <p:cNvPr id="9" name="Text 4"/>
          <p:cNvSpPr/>
          <p:nvPr/>
        </p:nvSpPr>
        <p:spPr>
          <a:xfrm>
            <a:off x="1005840" y="2468880"/>
            <a:ext cx="4434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payout execution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document verification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Basic authentication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currency (INR)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recurring donations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native mobile app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uses polling</a:t>
            </a:r>
            <a:endParaRPr lang="en-US" sz="1300" dirty="0"/>
          </a:p>
        </p:txBody>
      </p:sp>
      <p:sp>
        <p:nvSpPr>
          <p:cNvPr id="10" name="Shape 5"/>
          <p:cNvSpPr/>
          <p:nvPr/>
        </p:nvSpPr>
        <p:spPr>
          <a:xfrm>
            <a:off x="6263640" y="1554480"/>
            <a:ext cx="5349240" cy="4572000"/>
          </a:xfrm>
          <a:prstGeom prst="roundRect">
            <a:avLst>
              <a:gd name="adj" fmla="val 1600"/>
            </a:avLst>
          </a:prstGeom>
          <a:solidFill>
            <a:srgbClr val="EAF0F9"/>
          </a:solidFill>
          <a:ln w="12700">
            <a:solidFill>
              <a:srgbClr val="D9E2F3"/>
            </a:solidFill>
            <a:prstDash val="solid"/>
          </a:ln>
        </p:spPr>
      </p:sp>
      <p:pic>
        <p:nvPicPr>
          <p:cNvPr id="11" name="Image 3" descr="/home/claude/ngoconnect/icons/fut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1810512"/>
            <a:ext cx="457200" cy="4572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178040" y="1810512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1700" dirty="0"/>
          </a:p>
        </p:txBody>
      </p:sp>
      <p:sp>
        <p:nvSpPr>
          <p:cNvPr id="13" name="Text 7"/>
          <p:cNvSpPr/>
          <p:nvPr/>
        </p:nvSpPr>
        <p:spPr>
          <a:xfrm>
            <a:off x="6720840" y="2468880"/>
            <a:ext cx="4434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60"/>
              </a:spcAft>
              <a:buSzPct val="100000"/>
              <a:buChar char="•"/>
            </a:pPr>
            <a:r>
              <a:rPr lang="en-US" sz="12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Token-based authentication</a:t>
            </a:r>
            <a:endParaRPr lang="en-US" sz="1200" dirty="0"/>
          </a:p>
          <a:p>
            <a:pPr marL="342900" indent="-342900">
              <a:spcAft>
                <a:spcPts val="560"/>
              </a:spcAft>
              <a:buSzPct val="100000"/>
              <a:buChar char="•"/>
            </a:pPr>
            <a:r>
              <a:rPr lang="en-US" sz="12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payouts</a:t>
            </a:r>
            <a:endParaRPr lang="en-US" sz="1200" dirty="0"/>
          </a:p>
          <a:p>
            <a:pPr marL="342900" indent="-342900">
              <a:spcAft>
                <a:spcPts val="560"/>
              </a:spcAft>
              <a:buSzPct val="100000"/>
              <a:buChar char="•"/>
            </a:pPr>
            <a:r>
              <a:rPr lang="en-US" sz="12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Campaign-level fundraising</a:t>
            </a:r>
            <a:endParaRPr lang="en-US" sz="1200" dirty="0"/>
          </a:p>
          <a:p>
            <a:pPr marL="342900" indent="-342900">
              <a:spcAft>
                <a:spcPts val="560"/>
              </a:spcAft>
              <a:buSzPct val="100000"/>
              <a:buChar char="•"/>
            </a:pPr>
            <a:r>
              <a:rPr lang="en-US" sz="12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donations</a:t>
            </a:r>
            <a:endParaRPr lang="en-US" sz="1200" dirty="0"/>
          </a:p>
          <a:p>
            <a:pPr marL="342900" indent="-342900">
              <a:spcAft>
                <a:spcPts val="560"/>
              </a:spcAft>
              <a:buSzPct val="100000"/>
              <a:buChar char="•"/>
            </a:pPr>
            <a:r>
              <a:rPr lang="en-US" sz="12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registry verification</a:t>
            </a:r>
            <a:endParaRPr lang="en-US" sz="1200" dirty="0"/>
          </a:p>
          <a:p>
            <a:pPr marL="342900" indent="-342900">
              <a:spcAft>
                <a:spcPts val="560"/>
              </a:spcAft>
              <a:buSzPct val="100000"/>
              <a:buChar char="•"/>
            </a:pPr>
            <a:r>
              <a:rPr lang="en-US" sz="12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chat</a:t>
            </a:r>
            <a:endParaRPr lang="en-US" sz="1200" dirty="0"/>
          </a:p>
          <a:p>
            <a:pPr marL="342900" indent="-342900">
              <a:spcAft>
                <a:spcPts val="560"/>
              </a:spcAft>
              <a:buSzPct val="100000"/>
              <a:buChar char="•"/>
            </a:pPr>
            <a:r>
              <a:rPr lang="en-US" sz="12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mobile application</a:t>
            </a:r>
            <a:endParaRPr lang="en-US" sz="1200" dirty="0"/>
          </a:p>
          <a:p>
            <a:pPr marL="342900" indent="-342900">
              <a:spcAft>
                <a:spcPts val="560"/>
              </a:spcAft>
              <a:buSzPct val="100000"/>
              <a:buChar char="•"/>
            </a:pPr>
            <a:r>
              <a:rPr lang="en-US" sz="12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/ transparency reporting</a:t>
            </a:r>
            <a:endParaRPr lang="en-US" sz="1200" dirty="0"/>
          </a:p>
          <a:p>
            <a:pPr marL="342900" indent="-342900">
              <a:spcAft>
                <a:spcPts val="560"/>
              </a:spcAft>
              <a:buSzPct val="100000"/>
              <a:buChar char="•"/>
            </a:pPr>
            <a:r>
              <a:rPr lang="en-US" sz="12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 certificates &amp; hours tracking</a:t>
            </a:r>
            <a:endParaRPr lang="en-US" sz="1200" dirty="0"/>
          </a:p>
          <a:p>
            <a:pPr marL="342900" indent="-342900">
              <a:spcAft>
                <a:spcPts val="560"/>
              </a:spcAft>
              <a:buSzPct val="100000"/>
              <a:buChar char="•"/>
            </a:pPr>
            <a:r>
              <a:rPr lang="en-US" sz="12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attendance verification by NGO</a:t>
            </a:r>
            <a:endParaRPr lang="en-US" sz="1200" dirty="0"/>
          </a:p>
          <a:p>
            <a:pPr marL="342900" indent="-342900">
              <a:spcAft>
                <a:spcPts val="560"/>
              </a:spcAft>
              <a:buSzPct val="100000"/>
              <a:buChar char="•"/>
            </a:pPr>
            <a:r>
              <a:rPr lang="en-US" sz="12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alerts on login &amp; key actions</a:t>
            </a:r>
            <a:endParaRPr lang="en-US" sz="1200" dirty="0"/>
          </a:p>
          <a:p>
            <a:pPr marL="342900" indent="-342900">
              <a:spcAft>
                <a:spcPts val="560"/>
              </a:spcAft>
              <a:buSzPct val="100000"/>
              <a:buChar char="•"/>
            </a:pPr>
            <a:r>
              <a:rPr lang="en-US" sz="12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subscription plans (platform revenue)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NGOConnect  |  Sardar Vallabhbhai Global University</a:t>
            </a:r>
            <a:endParaRPr lang="en-US" sz="900" dirty="0"/>
          </a:p>
        </p:txBody>
      </p:sp>
      <p:sp>
        <p:nvSpPr>
          <p:cNvPr id="15" name="Text 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ngoconnect/icons/donors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640080" y="548640"/>
            <a:ext cx="457200" cy="457200"/>
          </a:xfrm>
          <a:prstGeom prst="rect">
            <a:avLst/>
          </a:prstGeom>
        </p:spPr>
      </p:pic>
      <p:pic>
        <p:nvPicPr>
          <p:cNvPr id="3" name="Image 1" descr="/home/claude/ngoconnect/icons/volunteers.png"/>
          <p:cNvPicPr>
            <a:picLocks noChangeAspect="1"/>
          </p:cNvPicPr>
          <p:nvPr/>
        </p:nvPicPr>
        <p:blipFill>
          <a:blip r:embed="rId4">
            <a:alphaModFix amt="45000"/>
          </a:blip>
          <a:stretch>
            <a:fillRect/>
          </a:stretch>
        </p:blipFill>
        <p:spPr>
          <a:xfrm>
            <a:off x="11064240" y="502920"/>
            <a:ext cx="457200" cy="457200"/>
          </a:xfrm>
          <a:prstGeom prst="rect">
            <a:avLst/>
          </a:prstGeom>
        </p:spPr>
      </p:pic>
      <p:pic>
        <p:nvPicPr>
          <p:cNvPr id="4" name="Image 2" descr="/home/claude/ngoconnect/icons/plus_deco.png"/>
          <p:cNvPicPr>
            <a:picLocks noChangeAspect="1"/>
          </p:cNvPicPr>
          <p:nvPr/>
        </p:nvPicPr>
        <p:blipFill>
          <a:blip r:embed="rId5">
            <a:alphaModFix amt="55000"/>
          </a:blip>
          <a:stretch>
            <a:fillRect/>
          </a:stretch>
        </p:blipFill>
        <p:spPr>
          <a:xfrm>
            <a:off x="548640" y="6035040"/>
            <a:ext cx="274320" cy="274320"/>
          </a:xfrm>
          <a:prstGeom prst="rect">
            <a:avLst/>
          </a:prstGeom>
        </p:spPr>
      </p:pic>
      <p:pic>
        <p:nvPicPr>
          <p:cNvPr id="5" name="Image 3" descr="/home/claude/ngoconnect/icons/plus_deco.png"/>
          <p:cNvPicPr>
            <a:picLocks noChangeAspect="1"/>
          </p:cNvPicPr>
          <p:nvPr/>
        </p:nvPicPr>
        <p:blipFill>
          <a:blip r:embed="rId5">
            <a:alphaModFix amt="55000"/>
          </a:blip>
          <a:stretch>
            <a:fillRect/>
          </a:stretch>
        </p:blipFill>
        <p:spPr>
          <a:xfrm>
            <a:off x="11247120" y="6035040"/>
            <a:ext cx="274320" cy="27432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731520" y="502920"/>
            <a:ext cx="107286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kern="0" spc="200" dirty="0">
                <a:solidFill>
                  <a:srgbClr val="2F75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7" name="Shape 1"/>
          <p:cNvSpPr/>
          <p:nvPr/>
        </p:nvSpPr>
        <p:spPr>
          <a:xfrm>
            <a:off x="640080" y="1280160"/>
            <a:ext cx="5349240" cy="1463040"/>
          </a:xfrm>
          <a:prstGeom prst="roundRect">
            <a:avLst>
              <a:gd name="adj" fmla="val 5000"/>
            </a:avLst>
          </a:prstGeom>
          <a:solidFill>
            <a:srgbClr val="1C3F6B"/>
          </a:solidFill>
          <a:ln w="12700">
            <a:solidFill>
              <a:srgbClr val="2E6259"/>
            </a:solidFill>
            <a:prstDash val="solid"/>
          </a:ln>
        </p:spPr>
      </p:sp>
      <p:pic>
        <p:nvPicPr>
          <p:cNvPr id="8" name="Image 4" descr="/home/claude/ngoconnect/icons/conclusion_lin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1719072"/>
            <a:ext cx="585216" cy="585216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1600200" y="1389888"/>
            <a:ext cx="4160520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verified NGOs, donors and volunteers on one trustworthy platform</a:t>
            </a:r>
            <a:endParaRPr lang="en-US" sz="1250" dirty="0"/>
          </a:p>
        </p:txBody>
      </p:sp>
      <p:sp>
        <p:nvSpPr>
          <p:cNvPr id="10" name="Shape 3"/>
          <p:cNvSpPr/>
          <p:nvPr/>
        </p:nvSpPr>
        <p:spPr>
          <a:xfrm>
            <a:off x="6263640" y="1280160"/>
            <a:ext cx="5349240" cy="1463040"/>
          </a:xfrm>
          <a:prstGeom prst="roundRect">
            <a:avLst>
              <a:gd name="adj" fmla="val 5000"/>
            </a:avLst>
          </a:prstGeom>
          <a:solidFill>
            <a:srgbClr val="1C3F6B"/>
          </a:solidFill>
          <a:ln w="12700">
            <a:solidFill>
              <a:srgbClr val="2E6259"/>
            </a:solidFill>
            <a:prstDash val="solid"/>
          </a:ln>
        </p:spPr>
      </p:sp>
      <p:pic>
        <p:nvPicPr>
          <p:cNvPr id="11" name="Image 5" descr="/home/claude/ngoconnect/icons/conclusion_trus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0" y="1719072"/>
            <a:ext cx="585216" cy="585216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7223760" y="1389888"/>
            <a:ext cx="4160520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trust and traceability through document verification and an append-only ledger</a:t>
            </a:r>
            <a:endParaRPr lang="en-US" sz="1250" dirty="0"/>
          </a:p>
        </p:txBody>
      </p:sp>
      <p:sp>
        <p:nvSpPr>
          <p:cNvPr id="13" name="Shape 5"/>
          <p:cNvSpPr/>
          <p:nvPr/>
        </p:nvSpPr>
        <p:spPr>
          <a:xfrm>
            <a:off x="640080" y="3017520"/>
            <a:ext cx="5349240" cy="1463040"/>
          </a:xfrm>
          <a:prstGeom prst="roundRect">
            <a:avLst>
              <a:gd name="adj" fmla="val 5000"/>
            </a:avLst>
          </a:prstGeom>
          <a:solidFill>
            <a:srgbClr val="1C3F6B"/>
          </a:solidFill>
          <a:ln w="12700">
            <a:solidFill>
              <a:srgbClr val="2E6259"/>
            </a:solidFill>
            <a:prstDash val="solid"/>
          </a:ln>
        </p:spPr>
      </p:sp>
      <p:pic>
        <p:nvPicPr>
          <p:cNvPr id="14" name="Image 6" descr="/home/claude/ngoconnect/icons/conclusion_aut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680" y="3456432"/>
            <a:ext cx="585216" cy="585216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1600200" y="3127248"/>
            <a:ext cx="4160520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80G donation receipts and financial record-keeping</a:t>
            </a:r>
            <a:endParaRPr lang="en-US" sz="1250" dirty="0"/>
          </a:p>
        </p:txBody>
      </p:sp>
      <p:sp>
        <p:nvSpPr>
          <p:cNvPr id="16" name="Shape 7"/>
          <p:cNvSpPr/>
          <p:nvPr/>
        </p:nvSpPr>
        <p:spPr>
          <a:xfrm>
            <a:off x="6263640" y="3017520"/>
            <a:ext cx="5349240" cy="1463040"/>
          </a:xfrm>
          <a:prstGeom prst="roundRect">
            <a:avLst>
              <a:gd name="adj" fmla="val 5000"/>
            </a:avLst>
          </a:prstGeom>
          <a:solidFill>
            <a:srgbClr val="1C3F6B"/>
          </a:solidFill>
          <a:ln w="12700">
            <a:solidFill>
              <a:srgbClr val="2E6259"/>
            </a:solidFill>
            <a:prstDash val="solid"/>
          </a:ln>
        </p:spPr>
      </p:sp>
      <p:pic>
        <p:nvPicPr>
          <p:cNvPr id="17" name="Image 7" descr="/home/claude/ngoconnect/icons/conclusion_futur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2240" y="3456432"/>
            <a:ext cx="585216" cy="585216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7223760" y="3127248"/>
            <a:ext cx="4160520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 solid foundation for campaigns, recurring giving and mobile expansion</a:t>
            </a:r>
            <a:endParaRPr lang="en-US" sz="1250" dirty="0"/>
          </a:p>
        </p:txBody>
      </p:sp>
      <p:sp>
        <p:nvSpPr>
          <p:cNvPr id="19" name="Shape 9"/>
          <p:cNvSpPr/>
          <p:nvPr/>
        </p:nvSpPr>
        <p:spPr>
          <a:xfrm>
            <a:off x="5090008" y="4709160"/>
            <a:ext cx="2011680" cy="0"/>
          </a:xfrm>
          <a:prstGeom prst="line">
            <a:avLst/>
          </a:prstGeom>
          <a:noFill/>
          <a:ln w="19050">
            <a:solidFill>
              <a:srgbClr val="2F75B5"/>
            </a:solidFill>
            <a:prstDash val="solid"/>
          </a:ln>
        </p:spPr>
      </p:sp>
      <p:sp>
        <p:nvSpPr>
          <p:cNvPr id="20" name="Shape 10"/>
          <p:cNvSpPr/>
          <p:nvPr/>
        </p:nvSpPr>
        <p:spPr>
          <a:xfrm>
            <a:off x="5684368" y="4892040"/>
            <a:ext cx="822960" cy="822960"/>
          </a:xfrm>
          <a:prstGeom prst="ellipse">
            <a:avLst/>
          </a:prstGeom>
          <a:solidFill>
            <a:srgbClr val="1C3F6B"/>
          </a:solidFill>
          <a:ln w="9525">
            <a:solidFill>
              <a:srgbClr val="D9E2F3"/>
            </a:solidFill>
            <a:prstDash val="solid"/>
          </a:ln>
        </p:spPr>
      </p:sp>
      <p:pic>
        <p:nvPicPr>
          <p:cNvPr id="21" name="Image 8" descr="/home/claude/ngoconnect/icons/thankyo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8337" y="5106010"/>
            <a:ext cx="395021" cy="395021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731520" y="5806440"/>
            <a:ext cx="107286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800</Words>
  <Application>Microsoft Office PowerPoint</Application>
  <PresentationFormat>Widescreen</PresentationFormat>
  <Paragraphs>188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Dhrumil Jadav</cp:lastModifiedBy>
  <cp:revision>2</cp:revision>
  <dcterms:created xsi:type="dcterms:W3CDTF">2026-09-18T18:04:30Z</dcterms:created>
  <dcterms:modified xsi:type="dcterms:W3CDTF">2026-09-18T18:08:27Z</dcterms:modified>
</cp:coreProperties>
</file>