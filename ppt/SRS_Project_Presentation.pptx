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9" r:id="rId2"/>
  </p:sldMasterIdLst>
  <p:sldIdLst>
    <p:sldId id="256" r:id="rId3"/>
    <p:sldId id="257" r:id="rId4"/>
    <p:sldId id="267" r:id="rId5"/>
    <p:sldId id="258" r:id="rId6"/>
    <p:sldId id="259" r:id="rId7"/>
    <p:sldId id="260" r:id="rId8"/>
    <p:sldId id="262" r:id="rId9"/>
    <p:sldId id="274" r:id="rId10"/>
    <p:sldId id="263" r:id="rId11"/>
    <p:sldId id="264" r:id="rId12"/>
    <p:sldId id="265" r:id="rId13"/>
    <p:sldId id="266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6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3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8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4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0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57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46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5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61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55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04766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48415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62891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03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50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19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135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8344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203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22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350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6290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82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1727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830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08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34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3302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97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8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589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5511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793287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4656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422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6998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6366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711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59464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859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444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1541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74293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53426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5064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05604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502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7946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07275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0089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274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93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7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0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38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17686" y="576662"/>
            <a:ext cx="9217587" cy="58477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 sz="3200" b="1">
                <a:solidFill>
                  <a:srgbClr val="17365D"/>
                </a:solidFill>
              </a:defRPr>
            </a:pPr>
            <a:r>
              <a:rPr b="1" dirty="0">
                <a:ln>
                  <a:solidFill>
                    <a:schemeClr val="tx2"/>
                  </a:solidFill>
                </a:ln>
                <a:solidFill>
                  <a:schemeClr val="accent4"/>
                </a:solidFill>
              </a:rPr>
              <a:t>SOFTWARE REQUIREMENT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0024" y="1216742"/>
            <a:ext cx="50129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75B5"/>
                </a:solidFill>
              </a:defRPr>
            </a:pPr>
            <a:r>
              <a:rPr b="1" dirty="0">
                <a:ln w="12700" cmpd="sng">
                  <a:solidFill>
                    <a:schemeClr val="tx2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AND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887941"/>
            <a:ext cx="6492240" cy="73152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dirty="0"/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0749" y="4202546"/>
            <a:ext cx="8347586" cy="2636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r>
              <a:rPr lang="en-US" sz="1600" b="1" dirty="0"/>
              <a:t>Chimanbhai Patel Post Graduate Institute of Computer Applications</a:t>
            </a:r>
            <a:endParaRPr sz="1600" b="1" dirty="0"/>
          </a:p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r>
              <a:rPr lang="en-US" dirty="0"/>
              <a:t>MCA </a:t>
            </a:r>
            <a:r>
              <a:rPr dirty="0"/>
              <a:t>Semester – 3 (2026–2027)</a:t>
            </a:r>
          </a:p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r>
              <a:rPr dirty="0"/>
              <a:t>Faculty Guide: Dr./Prof. [Name]</a:t>
            </a:r>
          </a:p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r>
              <a:rPr lang="en-US" dirty="0"/>
              <a:t>PRESENTED</a:t>
            </a:r>
            <a:r>
              <a:rPr dirty="0"/>
              <a:t> B</a:t>
            </a:r>
            <a:r>
              <a:rPr lang="en-US" dirty="0"/>
              <a:t>Y</a:t>
            </a:r>
            <a:r>
              <a:rPr dirty="0"/>
              <a:t>: </a:t>
            </a:r>
            <a:endParaRPr lang="en-US" dirty="0"/>
          </a:p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r>
              <a:rPr dirty="0"/>
              <a:t>[Student Names] – [Enrolment Numbers]</a:t>
            </a:r>
            <a:endParaRPr lang="en-US" dirty="0"/>
          </a:p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r>
              <a:rPr lang="en-IN" dirty="0"/>
              <a:t>[Student Names] – [Enrolment Numbers]</a:t>
            </a:r>
          </a:p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r>
              <a:rPr lang="en-IN" dirty="0"/>
              <a:t>[Student Names] – [Enrolment Numbers]</a:t>
            </a:r>
          </a:p>
          <a:p>
            <a:pPr algn="ctr">
              <a:spcAft>
                <a:spcPts val="1000"/>
              </a:spcAft>
              <a:defRPr sz="1300" b="0">
                <a:solidFill>
                  <a:srgbClr val="202124"/>
                </a:solidFill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70499B-B959-1796-1148-97047CA8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114" y="3343709"/>
            <a:ext cx="2376732" cy="830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3255C1-778C-34F1-56A1-F3DDDC41C48C}"/>
              </a:ext>
            </a:extLst>
          </p:cNvPr>
          <p:cNvSpPr txBox="1"/>
          <p:nvPr/>
        </p:nvSpPr>
        <p:spPr>
          <a:xfrm>
            <a:off x="5363331" y="2868036"/>
            <a:ext cx="2222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Submitted To:</a:t>
            </a:r>
            <a:endParaRPr lang="en-I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Project idea in 2–3 lines</a:t>
            </a:r>
          </a:p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12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0BB94B-7F1F-2735-4310-6C9E709BE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859164"/>
              </p:ext>
            </p:extLst>
          </p:nvPr>
        </p:nvGraphicFramePr>
        <p:xfrm>
          <a:off x="685800" y="1417320"/>
          <a:ext cx="10012680" cy="42519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86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Technology / Tool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02124"/>
                          </a:solidFill>
                        </a:defRPr>
                      </a:pPr>
                      <a:r>
                        <a:rPr dirty="0"/>
                        <a:t>Frontend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124"/>
                          </a:solidFill>
                        </a:defRPr>
                      </a:pPr>
                      <a:r>
                        <a:rPr dirty="0"/>
                        <a:t>[Technology / Language]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02124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124"/>
                          </a:solidFill>
                        </a:defRPr>
                      </a:pPr>
                      <a:r>
                        <a:t>[Technology / Framework]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02124"/>
                          </a:solidFill>
                        </a:defRPr>
                      </a:pPr>
                      <a:r>
                        <a:rPr dirty="0"/>
                        <a:t>Database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124"/>
                          </a:solidFill>
                        </a:defRPr>
                      </a:pPr>
                      <a:r>
                        <a:rPr dirty="0"/>
                        <a:t>[Database / DBMS]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02124"/>
                          </a:solidFill>
                        </a:defRPr>
                      </a:pPr>
                      <a:r>
                        <a:rPr dirty="0"/>
                        <a:t>Frameworks / APIs /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124"/>
                          </a:solidFill>
                        </a:defRPr>
                      </a:pPr>
                      <a:r>
                        <a:t>[Frameworks, APIs, Libraries, Tools]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02124"/>
                          </a:solidFill>
                        </a:defRPr>
                      </a:pPr>
                      <a:r>
                        <a:rPr dirty="0"/>
                        <a:t>Development Environment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124"/>
                          </a:solidFill>
                        </a:defRPr>
                      </a:pPr>
                      <a:r>
                        <a:rPr dirty="0"/>
                        <a:t>[IDE / OS / Runtime / Version]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C0BF3AD-A1ED-F748-6B35-72EACF887C16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rPr dirty="0"/>
              <a:t>Technology Stack &amp;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51713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Problem Statement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Current problem / pain point</a:t>
            </a:r>
          </a:p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Need for the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2–5 measurable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Existing System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t>Existing approach and its drawbacks</a:t>
            </a:r>
          </a:p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t>How the proposed system improves the current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22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Target Users / Stakeholders</a:t>
            </a:r>
          </a:p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Functional Requirements</a:t>
            </a:r>
          </a:p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6300-A5ED-5DCE-F977-C8F651C5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2D745D-B46C-98EF-ABBC-3DCDB85DCFB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F6D0E-9547-7DB1-209A-408EDAC62C24}"/>
              </a:ext>
            </a:extLst>
          </p:cNvPr>
          <p:cNvSpPr txBox="1"/>
          <p:nvPr/>
        </p:nvSpPr>
        <p:spPr>
          <a:xfrm>
            <a:off x="594360" y="320040"/>
            <a:ext cx="18487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rPr lang="en-US" dirty="0"/>
              <a:t>Flow Chart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E040F2-9EB5-3EB7-3AA4-93990B993171}"/>
              </a:ext>
            </a:extLst>
          </p:cNvPr>
          <p:cNvSpPr/>
          <p:nvPr/>
        </p:nvSpPr>
        <p:spPr>
          <a:xfrm>
            <a:off x="685800" y="1325880"/>
            <a:ext cx="10789920" cy="3840480"/>
          </a:xfrm>
          <a:prstGeom prst="roundRect">
            <a:avLst/>
          </a:prstGeom>
          <a:solidFill>
            <a:srgbClr val="F3F6FA"/>
          </a:solidFill>
          <a:ln>
            <a:solidFill>
              <a:srgbClr val="B7C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lang="en-US" dirty="0"/>
              <a:t>Flow Chart</a:t>
            </a:r>
          </a:p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lang="en-IN" sz="1200" dirty="0">
                <a:solidFill>
                  <a:srgbClr val="667085"/>
                </a:solidFill>
              </a:rPr>
              <a:t>Insert diagram link</a:t>
            </a:r>
          </a:p>
          <a:p>
            <a:pPr algn="ctr">
              <a:defRPr sz="1800" b="1">
                <a:solidFill>
                  <a:srgbClr val="17365D"/>
                </a:solidFill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FA5A1-3B84-A443-F109-C33FC8A3823F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F89A74-3DA4-1C16-52C6-B921AA07DCAA}"/>
              </a:ext>
            </a:extLst>
          </p:cNvPr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0049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3840480"/>
          </a:xfrm>
          <a:prstGeom prst="roundRect">
            <a:avLst/>
          </a:prstGeom>
          <a:solidFill>
            <a:srgbClr val="F3F6FA"/>
          </a:solidFill>
          <a:ln>
            <a:solidFill>
              <a:srgbClr val="B7C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dirty="0"/>
              <a:t>System Architecture</a:t>
            </a:r>
            <a:endParaRPr lang="en-US" dirty="0"/>
          </a:p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lang="en-IN" sz="1200" dirty="0">
                <a:solidFill>
                  <a:srgbClr val="667085"/>
                </a:solidFill>
              </a:rPr>
              <a:t>Insert diagram link</a:t>
            </a:r>
          </a:p>
          <a:p>
            <a:pPr algn="ctr">
              <a:defRPr sz="1800" b="1">
                <a:solidFill>
                  <a:srgbClr val="17365D"/>
                </a:solidFill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Use Case &amp; Activity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297680"/>
          </a:xfrm>
          <a:prstGeom prst="roundRect">
            <a:avLst/>
          </a:prstGeom>
          <a:solidFill>
            <a:srgbClr val="F3F6FA"/>
          </a:solidFill>
          <a:ln>
            <a:solidFill>
              <a:srgbClr val="B7C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dirty="0"/>
              <a:t>Insert Use Case Diagram</a:t>
            </a:r>
          </a:p>
          <a:p>
            <a:pPr algn="ctr">
              <a:defRPr sz="1200">
                <a:solidFill>
                  <a:srgbClr val="667085"/>
                </a:solidFill>
              </a:defRPr>
            </a:pPr>
            <a:r>
              <a:rPr dirty="0"/>
              <a:t>Insert diagram</a:t>
            </a:r>
            <a:r>
              <a:rPr lang="en-US" dirty="0"/>
              <a:t> link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303520" cy="4297680"/>
          </a:xfrm>
          <a:prstGeom prst="roundRect">
            <a:avLst/>
          </a:prstGeom>
          <a:solidFill>
            <a:srgbClr val="F3F6FA"/>
          </a:solidFill>
          <a:ln>
            <a:solidFill>
              <a:srgbClr val="B7C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dirty="0"/>
              <a:t>Insert Activity Diagram</a:t>
            </a:r>
          </a:p>
          <a:p>
            <a:pPr algn="ctr">
              <a:defRPr sz="1200">
                <a:solidFill>
                  <a:srgbClr val="667085"/>
                </a:solidFill>
              </a:defRPr>
            </a:pPr>
            <a:r>
              <a:rPr dirty="0"/>
              <a:t>Insert diagram</a:t>
            </a:r>
            <a:r>
              <a:rPr lang="en-US" dirty="0"/>
              <a:t> link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85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rPr dirty="0"/>
              <a:t>Sequence &amp; Class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297680"/>
          </a:xfrm>
          <a:prstGeom prst="roundRect">
            <a:avLst/>
          </a:prstGeom>
          <a:solidFill>
            <a:srgbClr val="F3F6FA"/>
          </a:solidFill>
          <a:ln>
            <a:solidFill>
              <a:srgbClr val="B7C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dirty="0"/>
              <a:t>Insert Sequence Diagram</a:t>
            </a:r>
          </a:p>
          <a:p>
            <a:pPr algn="ctr">
              <a:defRPr sz="1200">
                <a:solidFill>
                  <a:srgbClr val="667085"/>
                </a:solidFill>
              </a:defRPr>
            </a:pPr>
            <a:r>
              <a:rPr lang="en-IN" dirty="0"/>
              <a:t>Insert diagram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303520" cy="4297680"/>
          </a:xfrm>
          <a:prstGeom prst="roundRect">
            <a:avLst/>
          </a:prstGeom>
          <a:solidFill>
            <a:srgbClr val="F3F6FA"/>
          </a:solidFill>
          <a:ln>
            <a:solidFill>
              <a:srgbClr val="B7C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dirty="0"/>
              <a:t>Insert Class Diagram</a:t>
            </a:r>
          </a:p>
          <a:p>
            <a:pPr algn="ctr">
              <a:defRPr sz="1200">
                <a:solidFill>
                  <a:srgbClr val="667085"/>
                </a:solidFill>
              </a:defRPr>
            </a:pPr>
            <a:r>
              <a:rPr lang="en-IN" dirty="0"/>
              <a:t>Insert diagram link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buNone/>
            </a:pPr>
            <a:r>
              <a:rPr lang="en-IN" b="1"/>
              <a:t>Field</a:t>
            </a:r>
            <a:endParaRPr lang="en-IN" b="1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5069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rPr dirty="0"/>
              <a:t>Data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39743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02124"/>
                </a:solidFill>
              </a:defRPr>
            </a:pPr>
            <a:r>
              <a:rPr dirty="0"/>
              <a:t>Show a concise data dictionary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11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2DA0CE-A2E2-30B8-D3F0-ADDDFD237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379640"/>
              </p:ext>
            </p:extLst>
          </p:nvPr>
        </p:nvGraphicFramePr>
        <p:xfrm>
          <a:off x="1116945" y="2966784"/>
          <a:ext cx="9581535" cy="314140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64615">
                  <a:extLst>
                    <a:ext uri="{9D8B030D-6E8A-4147-A177-3AD203B41FA5}">
                      <a16:colId xmlns:a16="http://schemas.microsoft.com/office/drawing/2014/main" val="3980552083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660495845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644822863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2139398311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749129372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587426879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1519404701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875821176"/>
                    </a:ext>
                  </a:extLst>
                </a:gridCol>
                <a:gridCol w="1064615">
                  <a:extLst>
                    <a:ext uri="{9D8B030D-6E8A-4147-A177-3AD203B41FA5}">
                      <a16:colId xmlns:a16="http://schemas.microsoft.com/office/drawing/2014/main" val="664956629"/>
                    </a:ext>
                  </a:extLst>
                </a:gridCol>
              </a:tblGrid>
              <a:tr h="5235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Field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Type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Size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PK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FK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NULL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References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Constraints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Description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45838"/>
                  </a:ext>
                </a:extLst>
              </a:tr>
              <a:tr h="7853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 dirty="0" err="1">
                          <a:effectLst/>
                        </a:rPr>
                        <a:t>User_ID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✓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—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No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PK, Auto Increment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Unique user ID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0784110"/>
                  </a:ext>
                </a:extLst>
              </a:tr>
              <a:tr h="523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User_Name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VARCHAR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—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—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No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NOT NULL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User name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0792083"/>
                  </a:ext>
                </a:extLst>
              </a:tr>
              <a:tr h="7853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User_Email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VARCHAR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—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—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No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UNIQUE, NOT NULL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User email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5955759"/>
                  </a:ext>
                </a:extLst>
              </a:tr>
              <a:tr h="523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Role_ID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—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No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Role(Role_ID)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FK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User's role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15510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35EC702-3340-E5B1-1E00-0C90C930B425}"/>
              </a:ext>
            </a:extLst>
          </p:cNvPr>
          <p:cNvSpPr txBox="1"/>
          <p:nvPr/>
        </p:nvSpPr>
        <p:spPr>
          <a:xfrm>
            <a:off x="1116945" y="229783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02124"/>
                </a:solidFill>
              </a:defRPr>
            </a:pPr>
            <a:r>
              <a:rPr lang="en-US" b="1" dirty="0"/>
              <a:t>Table : </a:t>
            </a:r>
            <a:r>
              <a:rPr lang="en-US" b="1" dirty="0" err="1"/>
              <a:t>UserMaster</a:t>
            </a:r>
            <a:endParaRPr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313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rPr dirty="0"/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Scalability / integration ideas</a:t>
            </a:r>
          </a:p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Possible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Summarize what was proposed / developed</a:t>
            </a:r>
          </a:p>
          <a:p>
            <a:pPr>
              <a:spcAft>
                <a:spcPts val="1000"/>
              </a:spcAft>
              <a:defRPr sz="1900" b="0">
                <a:solidFill>
                  <a:srgbClr val="202124"/>
                </a:solidFill>
              </a:defRPr>
            </a:pPr>
            <a:r>
              <a:rPr dirty="0"/>
              <a:t>State the key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124"/>
                </a:solidFill>
              </a:defRPr>
            </a:pPr>
            <a:r>
              <a:t>Add books, websites, papers, documentation and other references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47</TotalTime>
  <Words>349</Words>
  <Application>Microsoft Office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Narrow</vt:lpstr>
      <vt:lpstr>Arial</vt:lpstr>
      <vt:lpstr>Arial Nova Light</vt:lpstr>
      <vt:lpstr>Neue Haas Grotesk Text Pro</vt:lpstr>
      <vt:lpstr>System Font Regular</vt:lpstr>
      <vt:lpstr>Bjorn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MCA Faculty</cp:lastModifiedBy>
  <cp:revision>13</cp:revision>
  <dcterms:created xsi:type="dcterms:W3CDTF">2013-01-27T09:14:16Z</dcterms:created>
  <dcterms:modified xsi:type="dcterms:W3CDTF">2026-09-01T05:47:13Z</dcterms:modified>
  <cp:category/>
</cp:coreProperties>
</file>